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74" r:id="rId7"/>
    <p:sldId id="273" r:id="rId8"/>
    <p:sldId id="278" r:id="rId9"/>
    <p:sldId id="276" r:id="rId10"/>
    <p:sldId id="279" r:id="rId11"/>
    <p:sldId id="277" r:id="rId12"/>
    <p:sldId id="272"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4682"/>
  </p:normalViewPr>
  <p:slideViewPr>
    <p:cSldViewPr snapToGrid="0">
      <p:cViewPr varScale="1">
        <p:scale>
          <a:sx n="119" d="100"/>
          <a:sy n="119" d="100"/>
        </p:scale>
        <p:origin x="1232"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400" b="0" i="0" u="none" strike="noStrike" dirty="0">
                <a:solidFill>
                  <a:srgbClr val="000000"/>
                </a:solidFill>
                <a:effectLst/>
                <a:latin typeface="Times New Roman" panose="02020603050405020304" pitchFamily="18" charset="0"/>
                <a:cs typeface="Times New Roman" panose="02020603050405020304" pitchFamily="18" charset="0"/>
              </a:rPr>
              <a:t>Deep Learning-Based Brain Tumor Detection Using CNN</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err="1">
                <a:solidFill>
                  <a:srgbClr val="000000"/>
                </a:solidFill>
                <a:latin typeface="Times New Roman" panose="02020603050405020304" pitchFamily="18" charset="0"/>
                <a:ea typeface="MS PGothic"/>
                <a:cs typeface="Times New Roman" panose="02020603050405020304" pitchFamily="18" charset="0"/>
              </a:rPr>
              <a:t>Dr.Gifty</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Gupta</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
        <p:nvSpPr>
          <p:cNvPr id="3" name="TextBox 2">
            <a:extLst>
              <a:ext uri="{FF2B5EF4-FFF2-40B4-BE49-F238E27FC236}">
                <a16:creationId xmlns:a16="http://schemas.microsoft.com/office/drawing/2014/main" id="{7CD91FF5-D56A-F7B1-DB88-5F50AEF3FFB9}"/>
              </a:ext>
            </a:extLst>
          </p:cNvPr>
          <p:cNvSpPr txBox="1"/>
          <p:nvPr/>
        </p:nvSpPr>
        <p:spPr>
          <a:xfrm flipH="1">
            <a:off x="2506532" y="3149684"/>
            <a:ext cx="1861072" cy="759182"/>
          </a:xfrm>
          <a:prstGeom prst="rect">
            <a:avLst/>
          </a:prstGeom>
          <a:noFill/>
        </p:spPr>
        <p:txBody>
          <a:bodyPr wrap="square" rtlCol="0">
            <a:spAutoFit/>
          </a:bodyPr>
          <a:lstStyle/>
          <a:p>
            <a:pPr algn="ctr">
              <a:lnSpc>
                <a:spcPct val="100000"/>
              </a:lnSpc>
              <a:spcBef>
                <a:spcPts val="400"/>
              </a:spcBef>
            </a:pPr>
            <a:r>
              <a:rPr lang="en-US" sz="2000" spc="-1" dirty="0" err="1">
                <a:solidFill>
                  <a:srgbClr val="000000"/>
                </a:solidFill>
                <a:latin typeface="Times New Roman" panose="02020603050405020304" pitchFamily="18" charset="0"/>
                <a:ea typeface="MS PGothic"/>
                <a:cs typeface="Times New Roman" panose="02020603050405020304" pitchFamily="18" charset="0"/>
              </a:rPr>
              <a:t>Garv</a:t>
            </a:r>
            <a:r>
              <a:rPr lang="en-US" sz="2000" spc="-1" dirty="0">
                <a:solidFill>
                  <a:srgbClr val="000000"/>
                </a:solidFill>
                <a:latin typeface="Times New Roman" panose="02020603050405020304" pitchFamily="18" charset="0"/>
                <a:ea typeface="MS PGothic"/>
                <a:cs typeface="Times New Roman" panose="02020603050405020304" pitchFamily="18" charset="0"/>
              </a:rPr>
              <a:t> Saini</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2210990315</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p:txBody>
      </p:sp>
      <p:sp>
        <p:nvSpPr>
          <p:cNvPr id="5" name="TextBox 4">
            <a:extLst>
              <a:ext uri="{FF2B5EF4-FFF2-40B4-BE49-F238E27FC236}">
                <a16:creationId xmlns:a16="http://schemas.microsoft.com/office/drawing/2014/main" id="{D0EE855E-D505-8ABA-92CE-5616765B6958}"/>
              </a:ext>
            </a:extLst>
          </p:cNvPr>
          <p:cNvSpPr txBox="1"/>
          <p:nvPr/>
        </p:nvSpPr>
        <p:spPr>
          <a:xfrm>
            <a:off x="4787152" y="3141378"/>
            <a:ext cx="1968649" cy="1036181"/>
          </a:xfrm>
          <a:prstGeom prst="rect">
            <a:avLst/>
          </a:prstGeom>
          <a:noFill/>
        </p:spPr>
        <p:txBody>
          <a:bodyPr wrap="square" rtlCol="0">
            <a:spAutoFit/>
          </a:bodyPr>
          <a:lstStyle/>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Arshdeep Singh</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2210990171</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640" y="1009714"/>
            <a:ext cx="8838720" cy="5346806"/>
          </a:xfrm>
          <a:prstGeom prst="rect">
            <a:avLst/>
          </a:prstGeom>
          <a:noFill/>
          <a:ln w="9360">
            <a:noFill/>
          </a:ln>
        </p:spPr>
        <p:txBody>
          <a:bodyPr>
            <a:noAutofit/>
          </a:bodyPr>
          <a:lstStyle/>
          <a:p>
            <a:pPr marL="139700" lvl="0">
              <a:buClr>
                <a:srgbClr val="000000"/>
              </a:buClr>
              <a:buSzPts val="1400"/>
            </a:pPr>
            <a:endParaRPr lang="en-US" sz="3600" b="1" i="0" u="none" strike="noStrike" dirty="0">
              <a:solidFill>
                <a:srgbClr val="000000"/>
              </a:solidFill>
              <a:effectLst/>
            </a:endParaRPr>
          </a:p>
          <a:p>
            <a:pPr algn="l"/>
            <a:r>
              <a:rPr lang="en-US" sz="2000" b="0" i="0" u="none" strike="noStrike" dirty="0">
                <a:solidFill>
                  <a:srgbClr val="000000"/>
                </a:solidFill>
                <a:effectLst/>
                <a:latin typeface="Times New Roman" panose="02020603050405020304" pitchFamily="18" charset="0"/>
                <a:cs typeface="Times New Roman" panose="02020603050405020304" pitchFamily="18" charset="0"/>
              </a:rPr>
              <a:t>Brain tumors are abnormal growths of cells in the brain that can be either benign (non-cancerous) or malignant (cancerous), and they pose a serious threat to human life as they affect critical brain functions. Early detection and accurate diagnosis are extremely important for effective treatment and improving patient survival rates. Magnetic Resonance Imaging (MRI) is one of the most widely used techniques for brain imaging because it provides detailed and high-resolution images of brain tissues. However, traditional analysis of MRI scans relies heavily on manual interpretation by radiologists, which is often time-consuming and prone to human error, especially when dealing with large volumes of data. Therefore, there is a strong need for automated and efficient systems that can assist in the accurate and faster detection of brain tumors.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7CE7A-FEFF-DBD6-BCED-962D652C7A29}"/>
              </a:ext>
            </a:extLst>
          </p:cNvPr>
          <p:cNvSpPr>
            <a:spLocks noGrp="1"/>
          </p:cNvSpPr>
          <p:nvPr>
            <p:ph type="title"/>
          </p:nvPr>
        </p:nvSpPr>
        <p:spPr/>
        <p:txBody>
          <a:bodyPr/>
          <a:lstStyle/>
          <a:p>
            <a:pPr algn="ctr"/>
            <a:r>
              <a:rPr lang="en-US" sz="3200"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212169EC-2E11-2F39-CD42-B18B41281FA4}"/>
              </a:ext>
            </a:extLst>
          </p:cNvPr>
          <p:cNvSpPr>
            <a:spLocks noGrp="1"/>
          </p:cNvSpPr>
          <p:nvPr>
            <p:ph type="subTitle"/>
          </p:nvPr>
        </p:nvSpPr>
        <p:spPr>
          <a:xfrm>
            <a:off x="457200" y="1604520"/>
            <a:ext cx="8229240" cy="4430520"/>
          </a:xfrm>
        </p:spPr>
        <p:txBody>
          <a:bodyPr/>
          <a:lstStyle/>
          <a:p>
            <a:pPr marL="0" indent="0">
              <a:buNone/>
            </a:pPr>
            <a:r>
              <a:rPr lang="en-US" sz="2000" dirty="0">
                <a:latin typeface="Times New Roman" panose="02020603050405020304" pitchFamily="18" charset="0"/>
                <a:cs typeface="Times New Roman" panose="02020603050405020304" pitchFamily="18" charset="0"/>
              </a:rPr>
              <a:t>Manual analysis of MRI scans is a time-consuming and labor-intensive process that requires radiologists to carefully examine each image, which becomes increasingly difficult when dealing with a large number of scans. This heavy reliance on human interpretation also introduces the possibility of errors, as even experienced professionals may overlook subtle patterns or inconsistencies, leading to inaccurate diagnoses. Additionally, the rapid growth in medical imaging data makes it challenging to efficiently process and analyze such vast datasets using traditional methods. These limitations highlight the urgent need for a system that is not only faster but also more accurate and reliable. Therefore, developing an automated approach for brain tumor detection can significantly reduce human effort, minimize errors, and improve the overall efficiency and precision of medical diagnosis.</a:t>
            </a:r>
          </a:p>
          <a:p>
            <a:endParaRPr lang="en-US" dirty="0"/>
          </a:p>
        </p:txBody>
      </p:sp>
    </p:spTree>
    <p:extLst>
      <p:ext uri="{BB962C8B-B14F-4D97-AF65-F5344CB8AC3E}">
        <p14:creationId xmlns:p14="http://schemas.microsoft.com/office/powerpoint/2010/main" val="2999570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A8FB3-E838-2025-89DA-4DDA6F6AA8DD}"/>
              </a:ext>
            </a:extLst>
          </p:cNvPr>
          <p:cNvSpPr>
            <a:spLocks noGrp="1"/>
          </p:cNvSpPr>
          <p:nvPr>
            <p:ph type="title"/>
          </p:nvPr>
        </p:nvSpPr>
        <p:spPr/>
        <p:txBody>
          <a:bodyPr/>
          <a:lstStyle/>
          <a:p>
            <a:pPr algn="ctr"/>
            <a:r>
              <a:rPr lang="en-US" sz="3200" dirty="0">
                <a:latin typeface="Times New Roman" panose="02020603050405020304" pitchFamily="18" charset="0"/>
                <a:cs typeface="Times New Roman" panose="02020603050405020304" pitchFamily="18" charset="0"/>
              </a:rPr>
              <a:t>Objective</a:t>
            </a:r>
          </a:p>
        </p:txBody>
      </p:sp>
      <p:sp>
        <p:nvSpPr>
          <p:cNvPr id="3" name="Subtitle 2">
            <a:extLst>
              <a:ext uri="{FF2B5EF4-FFF2-40B4-BE49-F238E27FC236}">
                <a16:creationId xmlns:a16="http://schemas.microsoft.com/office/drawing/2014/main" id="{926F8D26-ADDE-25AE-5FE2-0EC393F0CB70}"/>
              </a:ext>
            </a:extLst>
          </p:cNvPr>
          <p:cNvSpPr>
            <a:spLocks noGrp="1"/>
          </p:cNvSpPr>
          <p:nvPr>
            <p:ph type="subTitle"/>
          </p:nvPr>
        </p:nvSpPr>
        <p:spPr>
          <a:xfrm>
            <a:off x="457200" y="914041"/>
            <a:ext cx="8229240" cy="5691154"/>
          </a:xfrm>
        </p:spPr>
        <p:txBody>
          <a:bodyPr/>
          <a:lstStyle/>
          <a:p>
            <a:pPr marL="342900" indent="-342900">
              <a:lnSpc>
                <a:spcPct val="150000"/>
              </a:lnSpc>
              <a:buFont typeface="Arial" panose="020B0604020202020204" pitchFamily="34" charset="0"/>
              <a:buChar char="•"/>
            </a:pPr>
            <a:r>
              <a:rPr lang="en-US" sz="2000" dirty="0"/>
              <a:t>Develop an automated brain tumor detection system</a:t>
            </a:r>
          </a:p>
          <a:p>
            <a:pPr marL="342900" indent="-342900">
              <a:lnSpc>
                <a:spcPct val="150000"/>
              </a:lnSpc>
              <a:buFont typeface="Arial" panose="020B0604020202020204" pitchFamily="34" charset="0"/>
              <a:buChar char="•"/>
            </a:pPr>
            <a:r>
              <a:rPr lang="en-US" sz="2000" dirty="0"/>
              <a:t>Use deep learning technique: Convolutional Neural Networks (CNNs)</a:t>
            </a:r>
          </a:p>
          <a:p>
            <a:pPr marL="342900" indent="-342900">
              <a:lnSpc>
                <a:spcPct val="150000"/>
              </a:lnSpc>
              <a:buFont typeface="Arial" panose="020B0604020202020204" pitchFamily="34" charset="0"/>
              <a:buChar char="•"/>
            </a:pPr>
            <a:r>
              <a:rPr lang="en-US" sz="2000" dirty="0"/>
              <a:t>Analyze MRI brain images efficiently</a:t>
            </a:r>
          </a:p>
          <a:p>
            <a:pPr marL="342900" indent="-342900">
              <a:lnSpc>
                <a:spcPct val="150000"/>
              </a:lnSpc>
              <a:buFont typeface="Arial" panose="020B0604020202020204" pitchFamily="34" charset="0"/>
              <a:buChar char="•"/>
            </a:pPr>
            <a:r>
              <a:rPr lang="en-US" sz="2000" dirty="0"/>
              <a:t>Classify images </a:t>
            </a:r>
            <a:r>
              <a:rPr lang="en-US" sz="2000" dirty="0" err="1"/>
              <a:t>into:Tumor</a:t>
            </a:r>
            <a:r>
              <a:rPr lang="en-US" sz="2000" dirty="0"/>
              <a:t> &amp; Non-Tumor</a:t>
            </a:r>
          </a:p>
          <a:p>
            <a:pPr marL="342900" indent="-342900">
              <a:lnSpc>
                <a:spcPct val="150000"/>
              </a:lnSpc>
              <a:buFont typeface="Arial" panose="020B0604020202020204" pitchFamily="34" charset="0"/>
              <a:buChar char="•"/>
            </a:pPr>
            <a:r>
              <a:rPr lang="en-US" sz="2000" dirty="0"/>
              <a:t>Automatically learn complex patterns from data</a:t>
            </a:r>
          </a:p>
          <a:p>
            <a:pPr marL="342900" indent="-342900">
              <a:lnSpc>
                <a:spcPct val="150000"/>
              </a:lnSpc>
              <a:buFont typeface="Arial" panose="020B0604020202020204" pitchFamily="34" charset="0"/>
              <a:buChar char="•"/>
            </a:pPr>
            <a:r>
              <a:rPr lang="en-US" sz="2000" dirty="0"/>
              <a:t>Reduce dependency on manual diagnosis</a:t>
            </a:r>
          </a:p>
          <a:p>
            <a:pPr marL="342900" indent="-342900">
              <a:lnSpc>
                <a:spcPct val="150000"/>
              </a:lnSpc>
              <a:buFont typeface="Arial" panose="020B0604020202020204" pitchFamily="34" charset="0"/>
              <a:buChar char="•"/>
            </a:pPr>
            <a:r>
              <a:rPr lang="en-US" sz="2000" dirty="0"/>
              <a:t>Improve accuracy and reliability</a:t>
            </a:r>
          </a:p>
          <a:p>
            <a:pPr marL="342900" indent="-342900">
              <a:lnSpc>
                <a:spcPct val="150000"/>
              </a:lnSpc>
              <a:buFont typeface="Arial" panose="020B0604020202020204" pitchFamily="34" charset="0"/>
              <a:buChar char="•"/>
            </a:pPr>
            <a:r>
              <a:rPr lang="en-US" sz="2000" dirty="0"/>
              <a:t>Minimize human error</a:t>
            </a:r>
          </a:p>
          <a:p>
            <a:pPr marL="342900" indent="-342900">
              <a:lnSpc>
                <a:spcPct val="150000"/>
              </a:lnSpc>
              <a:buFont typeface="Arial" panose="020B0604020202020204" pitchFamily="34" charset="0"/>
              <a:buChar char="•"/>
            </a:pPr>
            <a:r>
              <a:rPr lang="en-US" sz="2000" dirty="0"/>
              <a:t>Speed up the diagnosis process</a:t>
            </a:r>
          </a:p>
          <a:p>
            <a:pPr marL="342900" indent="-342900">
              <a:lnSpc>
                <a:spcPct val="150000"/>
              </a:lnSpc>
              <a:buFont typeface="Arial" panose="020B0604020202020204" pitchFamily="34" charset="0"/>
              <a:buChar char="•"/>
            </a:pPr>
            <a:r>
              <a:rPr lang="en-US" sz="2000" dirty="0"/>
              <a:t>Provide consistent and scalable results</a:t>
            </a:r>
          </a:p>
          <a:p>
            <a:pPr marL="342900" indent="-342900">
              <a:lnSpc>
                <a:spcPct val="150000"/>
              </a:lnSpc>
              <a:buFont typeface="Arial" panose="020B0604020202020204" pitchFamily="34" charset="0"/>
              <a:buChar char="•"/>
            </a:pPr>
            <a:r>
              <a:rPr lang="en-US" sz="2000" dirty="0"/>
              <a:t>Assist medical professionals in decision-making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8194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4FE43-B590-2178-BF68-180D5495DB56}"/>
              </a:ext>
            </a:extLst>
          </p:cNvPr>
          <p:cNvSpPr>
            <a:spLocks noGrp="1"/>
          </p:cNvSpPr>
          <p:nvPr>
            <p:ph type="title"/>
          </p:nvPr>
        </p:nvSpPr>
        <p:spPr/>
        <p:txBody>
          <a:bodyPr/>
          <a:lstStyle/>
          <a:p>
            <a:pPr algn="ctr"/>
            <a:r>
              <a:rPr lang="en-US" sz="3200" b="0" i="0" u="none" strike="noStrike" dirty="0">
                <a:solidFill>
                  <a:srgbClr val="000000"/>
                </a:solidFill>
                <a:effectLst/>
                <a:latin typeface="Times New Roman" panose="02020603050405020304" pitchFamily="18" charset="0"/>
                <a:cs typeface="Times New Roman" panose="02020603050405020304" pitchFamily="18" charset="0"/>
              </a:rPr>
              <a:t>Methodology</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61ACCB9-EB0C-E275-707B-4E6BC6BC894E}"/>
              </a:ext>
            </a:extLst>
          </p:cNvPr>
          <p:cNvSpPr>
            <a:spLocks noGrp="1"/>
          </p:cNvSpPr>
          <p:nvPr>
            <p:ph type="subTitle"/>
          </p:nvPr>
        </p:nvSpPr>
        <p:spPr>
          <a:xfrm>
            <a:off x="457200" y="817581"/>
            <a:ext cx="8229240" cy="3334871"/>
          </a:xfrm>
        </p:spPr>
        <p:txBody>
          <a:bodyPr/>
          <a:lstStyle/>
          <a:p>
            <a:pPr algn="l">
              <a:lnSpc>
                <a:spcPct val="150000"/>
              </a:lnSpc>
              <a:buFont typeface="Arial" panose="020B0604020202020204" pitchFamily="34" charset="0"/>
              <a:buChar char="•"/>
            </a:pPr>
            <a:r>
              <a:rPr lang="en-US" sz="2000" b="0" i="0" u="none" strike="noStrike" dirty="0">
                <a:solidFill>
                  <a:srgbClr val="000000"/>
                </a:solidFill>
                <a:effectLst/>
              </a:rPr>
              <a:t>Data Collection</a:t>
            </a:r>
          </a:p>
          <a:p>
            <a:pPr algn="l">
              <a:lnSpc>
                <a:spcPct val="150000"/>
              </a:lnSpc>
              <a:buFont typeface="Arial" panose="020B0604020202020204" pitchFamily="34" charset="0"/>
              <a:buChar char="•"/>
            </a:pPr>
            <a:r>
              <a:rPr lang="en-US" sz="2000" b="0" i="0" u="none" strike="noStrike" dirty="0">
                <a:solidFill>
                  <a:srgbClr val="000000"/>
                </a:solidFill>
                <a:effectLst/>
              </a:rPr>
              <a:t>Data Preprocessing</a:t>
            </a:r>
          </a:p>
          <a:p>
            <a:pPr algn="l">
              <a:lnSpc>
                <a:spcPct val="150000"/>
              </a:lnSpc>
              <a:buFont typeface="Arial" panose="020B0604020202020204" pitchFamily="34" charset="0"/>
              <a:buChar char="•"/>
            </a:pPr>
            <a:r>
              <a:rPr lang="en-US" sz="2000" b="0" i="0" u="none" strike="noStrike" dirty="0">
                <a:solidFill>
                  <a:srgbClr val="000000"/>
                </a:solidFill>
                <a:effectLst/>
              </a:rPr>
              <a:t>CNN Model Design</a:t>
            </a:r>
          </a:p>
          <a:p>
            <a:pPr algn="l">
              <a:lnSpc>
                <a:spcPct val="150000"/>
              </a:lnSpc>
              <a:buFont typeface="Arial" panose="020B0604020202020204" pitchFamily="34" charset="0"/>
              <a:buChar char="•"/>
            </a:pPr>
            <a:r>
              <a:rPr lang="en-US" sz="2000" b="0" i="0" u="none" strike="noStrike" dirty="0">
                <a:solidFill>
                  <a:srgbClr val="000000"/>
                </a:solidFill>
                <a:effectLst/>
              </a:rPr>
              <a:t>Model Training</a:t>
            </a:r>
          </a:p>
          <a:p>
            <a:pPr algn="l">
              <a:lnSpc>
                <a:spcPct val="150000"/>
              </a:lnSpc>
              <a:buFont typeface="Arial" panose="020B0604020202020204" pitchFamily="34" charset="0"/>
              <a:buChar char="•"/>
            </a:pPr>
            <a:r>
              <a:rPr lang="en-US" sz="2000" b="0" i="0" u="none" strike="noStrike" dirty="0">
                <a:solidFill>
                  <a:srgbClr val="000000"/>
                </a:solidFill>
                <a:effectLst/>
              </a:rPr>
              <a:t>Classification</a:t>
            </a:r>
          </a:p>
          <a:p>
            <a:endParaRPr lang="en-US" dirty="0"/>
          </a:p>
        </p:txBody>
      </p:sp>
      <p:pic>
        <p:nvPicPr>
          <p:cNvPr id="5" name="Picture 4" descr="A diagram of a brain tumor detection&#10;&#10;AI-generated content may be incorrect.">
            <a:extLst>
              <a:ext uri="{FF2B5EF4-FFF2-40B4-BE49-F238E27FC236}">
                <a16:creationId xmlns:a16="http://schemas.microsoft.com/office/drawing/2014/main" id="{72D387FB-9F1B-A535-93C8-29F553AD8F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132" y="3429000"/>
            <a:ext cx="7875375" cy="3085199"/>
          </a:xfrm>
          <a:prstGeom prst="rect">
            <a:avLst/>
          </a:prstGeom>
        </p:spPr>
      </p:pic>
    </p:spTree>
    <p:extLst>
      <p:ext uri="{BB962C8B-B14F-4D97-AF65-F5344CB8AC3E}">
        <p14:creationId xmlns:p14="http://schemas.microsoft.com/office/powerpoint/2010/main" val="2990064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94132-8E84-AEF6-ED04-B948CA1ABC78}"/>
              </a:ext>
            </a:extLst>
          </p:cNvPr>
          <p:cNvSpPr>
            <a:spLocks noGrp="1"/>
          </p:cNvSpPr>
          <p:nvPr>
            <p:ph type="title"/>
          </p:nvPr>
        </p:nvSpPr>
        <p:spPr/>
        <p:txBody>
          <a:bodyPr/>
          <a:lstStyle/>
          <a:p>
            <a:pPr algn="ctr"/>
            <a:r>
              <a:rPr lang="en-US" sz="3200" b="0" i="0" u="none" strike="noStrike" dirty="0">
                <a:solidFill>
                  <a:srgbClr val="000000"/>
                </a:solidFill>
                <a:effectLst/>
                <a:latin typeface="Times New Roman" panose="02020603050405020304" pitchFamily="18" charset="0"/>
                <a:cs typeface="Times New Roman" panose="02020603050405020304" pitchFamily="18" charset="0"/>
              </a:rPr>
              <a:t>Results</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9FBAD46-DCD1-4C5A-ED62-AC259EAEAD47}"/>
              </a:ext>
            </a:extLst>
          </p:cNvPr>
          <p:cNvSpPr>
            <a:spLocks noGrp="1"/>
          </p:cNvSpPr>
          <p:nvPr>
            <p:ph type="subTitle"/>
          </p:nvPr>
        </p:nvSpPr>
        <p:spPr>
          <a:xfrm>
            <a:off x="623584" y="1604520"/>
            <a:ext cx="8062856" cy="3977280"/>
          </a:xfrm>
        </p:spPr>
        <p:txBody>
          <a:bodyPr/>
          <a:lstStyle/>
          <a:p>
            <a:pPr marL="0" indent="0">
              <a:buNone/>
            </a:pPr>
            <a:endParaRPr lang="en-US" dirty="0"/>
          </a:p>
        </p:txBody>
      </p:sp>
      <p:pic>
        <p:nvPicPr>
          <p:cNvPr id="5" name="Picture 4" descr="A graph showing the results of a training loss&#10;&#10;AI-generated content may be incorrect.">
            <a:extLst>
              <a:ext uri="{FF2B5EF4-FFF2-40B4-BE49-F238E27FC236}">
                <a16:creationId xmlns:a16="http://schemas.microsoft.com/office/drawing/2014/main" id="{3D846396-1E11-233D-2755-D3A2FDEC5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392" y="1276200"/>
            <a:ext cx="8062856" cy="4970032"/>
          </a:xfrm>
          <a:prstGeom prst="rect">
            <a:avLst/>
          </a:prstGeom>
        </p:spPr>
      </p:pic>
    </p:spTree>
    <p:extLst>
      <p:ext uri="{BB962C8B-B14F-4D97-AF65-F5344CB8AC3E}">
        <p14:creationId xmlns:p14="http://schemas.microsoft.com/office/powerpoint/2010/main" val="1921036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4893C-3D42-338A-4B80-BE33B64E0367}"/>
              </a:ext>
            </a:extLst>
          </p:cNvPr>
          <p:cNvSpPr>
            <a:spLocks noGrp="1"/>
          </p:cNvSpPr>
          <p:nvPr>
            <p:ph type="title"/>
          </p:nvPr>
        </p:nvSpPr>
        <p:spPr/>
        <p:txBody>
          <a:bodyPr/>
          <a:lstStyle/>
          <a:p>
            <a:pPr algn="ctr"/>
            <a:r>
              <a:rPr lang="en-US" sz="3200" dirty="0">
                <a:latin typeface="Times New Roman" panose="02020603050405020304" pitchFamily="18" charset="0"/>
                <a:cs typeface="Times New Roman" panose="02020603050405020304" pitchFamily="18" charset="0"/>
              </a:rPr>
              <a:t>Analysis</a:t>
            </a:r>
          </a:p>
        </p:txBody>
      </p:sp>
      <p:pic>
        <p:nvPicPr>
          <p:cNvPr id="5" name="Picture 4" descr="A graph of a diagram&#10;&#10;AI-generated content may be incorrect.">
            <a:extLst>
              <a:ext uri="{FF2B5EF4-FFF2-40B4-BE49-F238E27FC236}">
                <a16:creationId xmlns:a16="http://schemas.microsoft.com/office/drawing/2014/main" id="{8ADFB7B4-1002-D01A-DC85-825DD14E79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380" y="1097279"/>
            <a:ext cx="8229240" cy="5314277"/>
          </a:xfrm>
          <a:prstGeom prst="rect">
            <a:avLst/>
          </a:prstGeom>
        </p:spPr>
      </p:pic>
    </p:spTree>
    <p:extLst>
      <p:ext uri="{BB962C8B-B14F-4D97-AF65-F5344CB8AC3E}">
        <p14:creationId xmlns:p14="http://schemas.microsoft.com/office/powerpoint/2010/main" val="3111823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58E12-5944-A475-47E5-6AC5017D7318}"/>
              </a:ext>
            </a:extLst>
          </p:cNvPr>
          <p:cNvSpPr>
            <a:spLocks noGrp="1"/>
          </p:cNvSpPr>
          <p:nvPr>
            <p:ph type="title"/>
          </p:nvPr>
        </p:nvSpPr>
        <p:spPr/>
        <p:txBody>
          <a:bodyPr/>
          <a:lstStyle/>
          <a:p>
            <a:pPr algn="ctr"/>
            <a:r>
              <a:rPr lang="en-US" sz="3200" b="0" i="0" u="none" strike="noStrike" dirty="0">
                <a:solidFill>
                  <a:srgbClr val="000000"/>
                </a:solidFill>
                <a:effectLst/>
                <a:latin typeface="Times New Roman" panose="02020603050405020304" pitchFamily="18" charset="0"/>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404DBF9-3EE6-CED0-86DD-99712ECE467A}"/>
              </a:ext>
            </a:extLst>
          </p:cNvPr>
          <p:cNvSpPr>
            <a:spLocks noGrp="1"/>
          </p:cNvSpPr>
          <p:nvPr>
            <p:ph type="subTitle"/>
          </p:nvPr>
        </p:nvSpPr>
        <p:spPr>
          <a:xfrm>
            <a:off x="457200" y="914040"/>
            <a:ext cx="8229240" cy="5045696"/>
          </a:xfrm>
        </p:spPr>
        <p:txBody>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CNN-based system proves to be highly effective in automatically detecting brain tumors from MRI images with reliable performance.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model achieves high accuracy in tumor detection by learning complex patterns and features from medical imaging data.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significantly reduces human error by minimizing manual analysis and providing consistent automated predictions.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serves as a valuable tool for medical professionals by assisting in faster, more accurate, and efficient diagnosis.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model demonstrates strong generalization capability by performing consistently well on both training and unseen test data.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use of preprocessing techniques such as normalization and data augmentation plays a crucial role in improving model performance and stability.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offers a scalable and adaptable solution that can be further enhanced and integrated into real-world medical applications</a:t>
            </a:r>
            <a:r>
              <a:rPr lang="en-US" sz="2000" dirty="0"/>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8046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B630-EB82-01CA-3CF9-E03B40BF81B2}"/>
              </a:ext>
            </a:extLst>
          </p:cNvPr>
          <p:cNvSpPr>
            <a:spLocks noGrp="1"/>
          </p:cNvSpPr>
          <p:nvPr>
            <p:ph type="title"/>
          </p:nvPr>
        </p:nvSpPr>
        <p:spPr>
          <a:xfrm>
            <a:off x="0" y="0"/>
            <a:ext cx="5486040" cy="914040"/>
          </a:xfrm>
        </p:spPr>
        <p:txBody>
          <a:bodyPr/>
          <a:lstStyle/>
          <a:p>
            <a:pPr algn="ctr"/>
            <a:r>
              <a:rPr lang="en-US" sz="3200" dirty="0">
                <a:latin typeface="Times New Roman" panose="02020603050405020304" pitchFamily="18" charset="0"/>
                <a:cs typeface="Times New Roman" panose="02020603050405020304" pitchFamily="18" charset="0"/>
              </a:rPr>
              <a:t>Future Work</a:t>
            </a:r>
          </a:p>
        </p:txBody>
      </p:sp>
      <p:sp>
        <p:nvSpPr>
          <p:cNvPr id="3" name="Subtitle 2">
            <a:extLst>
              <a:ext uri="{FF2B5EF4-FFF2-40B4-BE49-F238E27FC236}">
                <a16:creationId xmlns:a16="http://schemas.microsoft.com/office/drawing/2014/main" id="{051537BB-C50A-7C45-5C48-EEE1D09CD301}"/>
              </a:ext>
            </a:extLst>
          </p:cNvPr>
          <p:cNvSpPr>
            <a:spLocks noGrp="1"/>
          </p:cNvSpPr>
          <p:nvPr>
            <p:ph type="subTitle"/>
          </p:nvPr>
        </p:nvSpPr>
        <p:spPr>
          <a:xfrm>
            <a:off x="508479" y="1140311"/>
            <a:ext cx="8127042" cy="5368065"/>
          </a:xfrm>
        </p:spPr>
        <p:txBody>
          <a:bodyPr/>
          <a:lstStyle/>
          <a:p>
            <a:pPr algn="l">
              <a:lnSpc>
                <a:spcPct val="100000"/>
              </a:lnSpc>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Extend the system from binary classification to multi-class classification to identify different tumor types like glioma, meningioma, and pituitary tumors for better clinical usefulness.</a:t>
            </a:r>
          </a:p>
          <a:p>
            <a:pPr algn="l">
              <a:lnSpc>
                <a:spcPct val="100000"/>
              </a:lnSpc>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Implement advanced deep learning models such as </a:t>
            </a:r>
            <a:r>
              <a:rPr lang="en-US" sz="2000" b="0" i="0" u="none" strike="noStrike" dirty="0" err="1">
                <a:solidFill>
                  <a:srgbClr val="000000"/>
                </a:solidFill>
                <a:effectLst/>
                <a:latin typeface="Times New Roman" panose="02020603050405020304" pitchFamily="18" charset="0"/>
                <a:cs typeface="Times New Roman" panose="02020603050405020304" pitchFamily="18" charset="0"/>
              </a:rPr>
              <a:t>ResNet</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and VGG16 to enhance feature extraction and improve overall accuracy.</a:t>
            </a:r>
          </a:p>
          <a:p>
            <a:pPr algn="l">
              <a:lnSpc>
                <a:spcPct val="100000"/>
              </a:lnSpc>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Increase the size and diversity of the dataset by including MRI images from multiple sources to improve generalization and reduce overfitting.</a:t>
            </a:r>
          </a:p>
          <a:p>
            <a:pPr algn="l">
              <a:lnSpc>
                <a:spcPct val="100000"/>
              </a:lnSpc>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Optimize the model to make it more efficient by reducing computational cost while maintaining high performance and stability.</a:t>
            </a:r>
          </a:p>
          <a:p>
            <a:pPr algn="l">
              <a:lnSpc>
                <a:spcPct val="100000"/>
              </a:lnSpc>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Develop a real-time application with a user-friendly interface that allows doctors to upload MRI scans and receive instant predictions.</a:t>
            </a:r>
          </a:p>
          <a:p>
            <a:pPr algn="l">
              <a:lnSpc>
                <a:spcPct val="100000"/>
              </a:lnSpc>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Integrate the system into healthcare environments to support radiologists, reduce workload, and improve diagnostic efficiency.</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6451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34756</TotalTime>
  <Words>688</Words>
  <Application>Microsoft Macintosh PowerPoint</Application>
  <PresentationFormat>On-screen Show (4:3)</PresentationFormat>
  <Paragraphs>70</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Problem Statement</vt:lpstr>
      <vt:lpstr>Objective</vt:lpstr>
      <vt:lpstr>Methodology</vt:lpstr>
      <vt:lpstr>Results</vt:lpstr>
      <vt:lpstr>Analysis</vt:lpstr>
      <vt:lpstr>Conclusion</vt:lpstr>
      <vt:lpstr>Future Work</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Arsh Khaira</cp:lastModifiedBy>
  <cp:revision>2302</cp:revision>
  <dcterms:created xsi:type="dcterms:W3CDTF">2010-04-09T07:36:15Z</dcterms:created>
  <dcterms:modified xsi:type="dcterms:W3CDTF">2026-05-17T14:52:36Z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