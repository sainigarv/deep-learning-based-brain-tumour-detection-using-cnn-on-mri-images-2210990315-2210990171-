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5"/>
  </p:notesMasterIdLst>
  <p:handoutMasterIdLst>
    <p:handoutMasterId r:id="rId16"/>
  </p:handoutMasterIdLst>
  <p:sldIdLst>
    <p:sldId id="256" r:id="rId5"/>
    <p:sldId id="257" r:id="rId6"/>
    <p:sldId id="274" r:id="rId7"/>
    <p:sldId id="273" r:id="rId8"/>
    <p:sldId id="278" r:id="rId9"/>
    <p:sldId id="276" r:id="rId10"/>
    <p:sldId id="279" r:id="rId11"/>
    <p:sldId id="277" r:id="rId12"/>
    <p:sldId id="272" r:id="rId13"/>
    <p:sldId id="268" r:id="rId14"/>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B2E2"/>
    <a:srgbClr val="2A66AC"/>
    <a:srgbClr val="75A4DD"/>
    <a:srgbClr val="2E6CB8"/>
    <a:srgbClr val="2A65AC"/>
    <a:srgbClr val="255997"/>
    <a:srgbClr val="3379CD"/>
    <a:srgbClr val="558ED5"/>
    <a:srgbClr val="78A6DE"/>
    <a:srgbClr val="9DBE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64"/>
    <p:restoredTop sz="94682"/>
  </p:normalViewPr>
  <p:slideViewPr>
    <p:cSldViewPr snapToGrid="0">
      <p:cViewPr varScale="1">
        <p:scale>
          <a:sx n="119" d="100"/>
          <a:sy n="119" d="100"/>
        </p:scale>
        <p:origin x="1344"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607C9A-EDB5-4C0A-BCFE-81AAF6133E68}"/>
              </a:ext>
            </a:extLst>
          </p:cNvPr>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4F00B0C-2831-4624-A5D3-43F42D30BA74}"/>
              </a:ext>
            </a:extLst>
          </p:cNvPr>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25D2B5EB-424D-4C39-A8AB-65F1D7895EF3}" type="datetimeFigureOut">
              <a:rPr lang="en-US" smtClean="0"/>
              <a:pPr/>
              <a:t>4/28/26</a:t>
            </a:fld>
            <a:endParaRPr lang="en-US"/>
          </a:p>
        </p:txBody>
      </p:sp>
      <p:sp>
        <p:nvSpPr>
          <p:cNvPr id="4" name="Footer Placeholder 3">
            <a:extLst>
              <a:ext uri="{FF2B5EF4-FFF2-40B4-BE49-F238E27FC236}">
                <a16:creationId xmlns:a16="http://schemas.microsoft.com/office/drawing/2014/main" id="{B334ABA9-0C2F-480A-B554-A457296C39B5}"/>
              </a:ext>
            </a:extLst>
          </p:cNvPr>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5" name="Slide Number Placeholder 4">
            <a:extLst>
              <a:ext uri="{FF2B5EF4-FFF2-40B4-BE49-F238E27FC236}">
                <a16:creationId xmlns:a16="http://schemas.microsoft.com/office/drawing/2014/main" id="{46F3BA01-5457-4975-8BF5-D0EAD49D534B}"/>
              </a:ext>
            </a:extLst>
          </p:cNvPr>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E4199376-55CE-4213-A97D-9D70929AC508}" type="slidenum">
              <a:rPr lang="en-US" smtClean="0"/>
              <a:pPr/>
              <a:t>‹#›</a:t>
            </a:fld>
            <a:endParaRPr lang="en-US"/>
          </a:p>
        </p:txBody>
      </p:sp>
    </p:spTree>
    <p:extLst>
      <p:ext uri="{BB962C8B-B14F-4D97-AF65-F5344CB8AC3E}">
        <p14:creationId xmlns:p14="http://schemas.microsoft.com/office/powerpoint/2010/main" val="412300227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88BC1CF-45D5-4DEE-AAB8-8C5341844FC9}" type="datetimeFigureOut">
              <a:rPr lang="en-US" smtClean="0"/>
              <a:pPr/>
              <a:t>4/28/26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C5A7523A-12D4-4E0F-9409-B3F845B48333}" type="slidenum">
              <a:rPr lang="en-US" smtClean="0"/>
              <a:pPr/>
              <a:t>‹#›</a:t>
            </a:fld>
            <a:endParaRPr lang="en-US"/>
          </a:p>
        </p:txBody>
      </p:sp>
    </p:spTree>
    <p:extLst>
      <p:ext uri="{BB962C8B-B14F-4D97-AF65-F5344CB8AC3E}">
        <p14:creationId xmlns:p14="http://schemas.microsoft.com/office/powerpoint/2010/main" val="3458122221"/>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5A7523A-12D4-4E0F-9409-B3F845B48333}" type="slidenum">
              <a:rPr lang="en-US" smtClean="0"/>
              <a:pPr/>
              <a:t>1</a:t>
            </a:fld>
            <a:endParaRPr lang="en-US"/>
          </a:p>
        </p:txBody>
      </p:sp>
      <p:sp>
        <p:nvSpPr>
          <p:cNvPr id="5" name="Footer Placeholder 4">
            <a:extLst>
              <a:ext uri="{FF2B5EF4-FFF2-40B4-BE49-F238E27FC236}">
                <a16:creationId xmlns:a16="http://schemas.microsoft.com/office/drawing/2014/main" id="{A599BB95-9755-4BC6-8051-C2B8CF54F2A1}"/>
              </a:ext>
            </a:extLst>
          </p:cNvPr>
          <p:cNvSpPr>
            <a:spLocks noGrp="1"/>
          </p:cNvSpPr>
          <p:nvPr>
            <p:ph type="ftr" sz="quarter" idx="4"/>
          </p:nvPr>
        </p:nvSpPr>
        <p:spPr/>
        <p:txBody>
          <a:bodyPr/>
          <a:lstStyle/>
          <a:p>
            <a:r>
              <a:rPr lang="en-US"/>
              <a:t>Name of the faculty [Group: G00] [Sem:2nd]</a:t>
            </a:r>
          </a:p>
        </p:txBody>
      </p:sp>
    </p:spTree>
    <p:extLst>
      <p:ext uri="{BB962C8B-B14F-4D97-AF65-F5344CB8AC3E}">
        <p14:creationId xmlns:p14="http://schemas.microsoft.com/office/powerpoint/2010/main" val="4254874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1" name="PlaceHolder 2"/>
          <p:cNvSpPr>
            <a:spLocks noGrp="1"/>
          </p:cNvSpPr>
          <p:nvPr>
            <p:ph type="subTitle"/>
          </p:nvPr>
        </p:nvSpPr>
        <p:spPr>
          <a:xfrm>
            <a:off x="457200" y="1604520"/>
            <a:ext cx="8229240" cy="3977280"/>
          </a:xfrm>
          <a:prstGeom prst="rect">
            <a:avLst/>
          </a:prstGeom>
        </p:spPr>
        <p:txBody>
          <a:bodyPr lIns="0" tIns="0" rIns="0" bIns="0" anchor="ctr">
            <a:noAutofit/>
          </a:bodyPr>
          <a:lstStyle/>
          <a:p>
            <a:pPr algn="ctr"/>
            <a:endParaRPr lang="en-GB" sz="3200" b="0" strike="noStrike" spc="-1" dirty="0">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3" name="PlaceHolder 2"/>
          <p:cNvSpPr>
            <a:spLocks noGrp="1"/>
          </p:cNvSpPr>
          <p:nvPr>
            <p:ph type="body"/>
          </p:nvPr>
        </p:nvSpPr>
        <p:spPr>
          <a:xfrm>
            <a:off x="457200" y="1604520"/>
            <a:ext cx="822924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5"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26"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8" name="PlaceHolder 1"/>
          <p:cNvSpPr>
            <a:spLocks noGrp="1"/>
          </p:cNvSpPr>
          <p:nvPr>
            <p:ph type="subTitle"/>
          </p:nvPr>
        </p:nvSpPr>
        <p:spPr>
          <a:xfrm>
            <a:off x="0" y="0"/>
            <a:ext cx="5486040" cy="4238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0"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1"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2"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4"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5"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6" name="PlaceHolder 4"/>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8"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9"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0" name="PlaceHolder 4"/>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2" name="PlaceHolder 2"/>
          <p:cNvSpPr>
            <a:spLocks noGrp="1"/>
          </p:cNvSpPr>
          <p:nvPr>
            <p:ph type="body"/>
          </p:nvPr>
        </p:nvSpPr>
        <p:spPr>
          <a:xfrm>
            <a:off x="457200" y="160452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3" name="PlaceHolder 3"/>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5"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6"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7"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8" name="PlaceHolder 5"/>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50" name="PlaceHolder 2"/>
          <p:cNvSpPr>
            <a:spLocks noGrp="1"/>
          </p:cNvSpPr>
          <p:nvPr>
            <p:ph type="body"/>
          </p:nvPr>
        </p:nvSpPr>
        <p:spPr>
          <a:xfrm>
            <a:off x="45720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1" name="PlaceHolder 3"/>
          <p:cNvSpPr>
            <a:spLocks noGrp="1"/>
          </p:cNvSpPr>
          <p:nvPr>
            <p:ph type="body"/>
          </p:nvPr>
        </p:nvSpPr>
        <p:spPr>
          <a:xfrm>
            <a:off x="323964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2" name="PlaceHolder 4"/>
          <p:cNvSpPr>
            <a:spLocks noGrp="1"/>
          </p:cNvSpPr>
          <p:nvPr>
            <p:ph type="body"/>
          </p:nvPr>
        </p:nvSpPr>
        <p:spPr>
          <a:xfrm>
            <a:off x="602208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3" name="PlaceHolder 5"/>
          <p:cNvSpPr>
            <a:spLocks noGrp="1"/>
          </p:cNvSpPr>
          <p:nvPr>
            <p:ph type="body"/>
          </p:nvPr>
        </p:nvSpPr>
        <p:spPr>
          <a:xfrm>
            <a:off x="45720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4" name="PlaceHolder 6"/>
          <p:cNvSpPr>
            <a:spLocks noGrp="1"/>
          </p:cNvSpPr>
          <p:nvPr>
            <p:ph type="body"/>
          </p:nvPr>
        </p:nvSpPr>
        <p:spPr>
          <a:xfrm>
            <a:off x="323964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5" name="PlaceHolder 7"/>
          <p:cNvSpPr>
            <a:spLocks noGrp="1"/>
          </p:cNvSpPr>
          <p:nvPr>
            <p:ph type="body"/>
          </p:nvPr>
        </p:nvSpPr>
        <p:spPr>
          <a:xfrm>
            <a:off x="602208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CustomShape 1"/>
          <p:cNvSpPr/>
          <p:nvPr/>
        </p:nvSpPr>
        <p:spPr>
          <a:xfrm>
            <a:off x="0" y="0"/>
            <a:ext cx="914364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sp>
        <p:nvSpPr>
          <p:cNvPr id="21" name="CustomShape 2"/>
          <p:cNvSpPr/>
          <p:nvPr/>
        </p:nvSpPr>
        <p:spPr>
          <a:xfrm flipV="1">
            <a:off x="0" y="6704640"/>
            <a:ext cx="9143640" cy="197640"/>
          </a:xfrm>
          <a:prstGeom prst="rect">
            <a:avLst/>
          </a:prstGeom>
          <a:solidFill>
            <a:srgbClr val="FF0000"/>
          </a:solidFill>
          <a:ln w="9360">
            <a:noFill/>
          </a:ln>
          <a:scene3d>
            <a:camera prst="orthographicFront"/>
            <a:lightRig rig="threePt" dir="t"/>
          </a:scene3d>
          <a:sp3d/>
        </p:spPr>
        <p:style>
          <a:lnRef idx="0">
            <a:scrgbClr r="0" g="0" b="0"/>
          </a:lnRef>
          <a:fillRef idx="0">
            <a:scrgbClr r="0" g="0" b="0"/>
          </a:fillRef>
          <a:effectRef idx="0">
            <a:scrgbClr r="0" g="0" b="0"/>
          </a:effectRef>
          <a:fontRef idx="minor"/>
        </p:style>
      </p:sp>
      <p:pic>
        <p:nvPicPr>
          <p:cNvPr id="2" name="Picture 10" descr="LOGO.gif"/>
          <p:cNvPicPr/>
          <p:nvPr/>
        </p:nvPicPr>
        <p:blipFill>
          <a:blip r:embed="rId14"/>
          <a:srcRect b="10718"/>
          <a:stretch/>
        </p:blipFill>
        <p:spPr>
          <a:xfrm>
            <a:off x="6553080" y="228600"/>
            <a:ext cx="2057040" cy="634680"/>
          </a:xfrm>
          <a:prstGeom prst="rect">
            <a:avLst/>
          </a:prstGeom>
          <a:ln w="9360">
            <a:noFill/>
          </a:ln>
        </p:spPr>
      </p:pic>
      <p:pic>
        <p:nvPicPr>
          <p:cNvPr id="3" name="Picture 10" descr="LOGO.gif"/>
          <p:cNvPicPr/>
          <p:nvPr/>
        </p:nvPicPr>
        <p:blipFill>
          <a:blip r:embed="rId14"/>
          <a:srcRect b="10718"/>
          <a:stretch/>
        </p:blipFill>
        <p:spPr>
          <a:xfrm>
            <a:off x="6553080" y="228600"/>
            <a:ext cx="2057040" cy="634680"/>
          </a:xfrm>
          <a:prstGeom prst="rect">
            <a:avLst/>
          </a:prstGeom>
          <a:ln w="9360">
            <a:noFill/>
          </a:ln>
        </p:spPr>
      </p:pic>
      <p:grpSp>
        <p:nvGrpSpPr>
          <p:cNvPr id="4" name="Group 3"/>
          <p:cNvGrpSpPr/>
          <p:nvPr/>
        </p:nvGrpSpPr>
        <p:grpSpPr>
          <a:xfrm>
            <a:off x="6146640" y="0"/>
            <a:ext cx="2997000" cy="875880"/>
            <a:chOff x="6146640" y="0"/>
            <a:chExt cx="2997000" cy="875880"/>
          </a:xfrm>
        </p:grpSpPr>
        <p:sp>
          <p:nvSpPr>
            <p:cNvPr id="5" name="CustomShape 4"/>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6" name="Picture 9" descr="LOGO.gif"/>
            <p:cNvPicPr/>
            <p:nvPr/>
          </p:nvPicPr>
          <p:blipFill>
            <a:blip r:embed="rId14"/>
            <a:srcRect b="10718"/>
            <a:stretch/>
          </p:blipFill>
          <p:spPr>
            <a:xfrm>
              <a:off x="6553080" y="228600"/>
              <a:ext cx="2057040" cy="634680"/>
            </a:xfrm>
            <a:prstGeom prst="rect">
              <a:avLst/>
            </a:prstGeom>
            <a:ln w="9360">
              <a:noFill/>
            </a:ln>
          </p:spPr>
        </p:pic>
        <p:sp>
          <p:nvSpPr>
            <p:cNvPr id="7" name="CustomShape 5"/>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8" name="Picture 15" descr="logo.jpg"/>
          <p:cNvPicPr/>
          <p:nvPr/>
        </p:nvPicPr>
        <p:blipFill>
          <a:blip r:embed="rId15"/>
          <a:stretch/>
        </p:blipFill>
        <p:spPr>
          <a:xfrm>
            <a:off x="6553080" y="228600"/>
            <a:ext cx="1920600" cy="609120"/>
          </a:xfrm>
          <a:prstGeom prst="rect">
            <a:avLst/>
          </a:prstGeom>
          <a:ln w="9360">
            <a:noFill/>
          </a:ln>
        </p:spPr>
      </p:pic>
      <p:pic>
        <p:nvPicPr>
          <p:cNvPr id="9" name="Picture 10" descr="LOGO.gif"/>
          <p:cNvPicPr/>
          <p:nvPr/>
        </p:nvPicPr>
        <p:blipFill>
          <a:blip r:embed="rId14"/>
          <a:srcRect b="10718"/>
          <a:stretch/>
        </p:blipFill>
        <p:spPr>
          <a:xfrm>
            <a:off x="6553080" y="228600"/>
            <a:ext cx="2057040" cy="634680"/>
          </a:xfrm>
          <a:prstGeom prst="rect">
            <a:avLst/>
          </a:prstGeom>
          <a:ln w="9360">
            <a:noFill/>
          </a:ln>
        </p:spPr>
      </p:pic>
      <p:grpSp>
        <p:nvGrpSpPr>
          <p:cNvPr id="10" name="Group 6"/>
          <p:cNvGrpSpPr/>
          <p:nvPr/>
        </p:nvGrpSpPr>
        <p:grpSpPr>
          <a:xfrm>
            <a:off x="6146640" y="0"/>
            <a:ext cx="2997000" cy="875880"/>
            <a:chOff x="6146640" y="0"/>
            <a:chExt cx="2997000" cy="875880"/>
          </a:xfrm>
        </p:grpSpPr>
        <p:sp>
          <p:nvSpPr>
            <p:cNvPr id="11" name="CustomShape 7"/>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12" name="Picture 9" descr="LOGO.gif"/>
            <p:cNvPicPr/>
            <p:nvPr/>
          </p:nvPicPr>
          <p:blipFill>
            <a:blip r:embed="rId14"/>
            <a:srcRect b="10718"/>
            <a:stretch/>
          </p:blipFill>
          <p:spPr>
            <a:xfrm>
              <a:off x="6553080" y="228600"/>
              <a:ext cx="2057040" cy="634680"/>
            </a:xfrm>
            <a:prstGeom prst="rect">
              <a:avLst/>
            </a:prstGeom>
            <a:ln w="9360">
              <a:noFill/>
            </a:ln>
          </p:spPr>
        </p:pic>
        <p:sp>
          <p:nvSpPr>
            <p:cNvPr id="13" name="CustomShape 8"/>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14" name="Picture 15" descr="logo.jpg"/>
          <p:cNvPicPr/>
          <p:nvPr/>
        </p:nvPicPr>
        <p:blipFill>
          <a:blip r:embed="rId15"/>
          <a:stretch/>
        </p:blipFill>
        <p:spPr>
          <a:xfrm>
            <a:off x="6553080" y="228600"/>
            <a:ext cx="1920600" cy="609120"/>
          </a:xfrm>
          <a:prstGeom prst="rect">
            <a:avLst/>
          </a:prstGeom>
          <a:ln w="9360">
            <a:noFill/>
          </a:ln>
        </p:spPr>
      </p:pic>
      <p:sp>
        <p:nvSpPr>
          <p:cNvPr id="15" name="PlaceHolder 9"/>
          <p:cNvSpPr>
            <a:spLocks noGrp="1"/>
          </p:cNvSpPr>
          <p:nvPr>
            <p:ph type="title"/>
          </p:nvPr>
        </p:nvSpPr>
        <p:spPr>
          <a:xfrm>
            <a:off x="0" y="0"/>
            <a:ext cx="6476760" cy="837720"/>
          </a:xfrm>
          <a:prstGeom prst="rect">
            <a:avLst/>
          </a:prstGeom>
        </p:spPr>
        <p:txBody>
          <a:bodyPr anchor="ctr">
            <a:noAutofit/>
          </a:bodyPr>
          <a:lstStyle/>
          <a:p>
            <a:pPr algn="ctr">
              <a:lnSpc>
                <a:spcPct val="100000"/>
              </a:lnSpc>
            </a:pPr>
            <a:r>
              <a:rPr lang="en-US" sz="3000" b="0" strike="noStrike" spc="-1" dirty="0">
                <a:solidFill>
                  <a:srgbClr val="000000"/>
                </a:solidFill>
                <a:latin typeface="Calibri"/>
                <a:ea typeface="MS PGothic"/>
              </a:rPr>
              <a:t>Click to edit Master title style</a:t>
            </a:r>
            <a:endParaRPr lang="en-US" sz="3000" b="0" strike="noStrike" spc="-1" dirty="0">
              <a:solidFill>
                <a:srgbClr val="000000"/>
              </a:solidFill>
              <a:latin typeface="Arial"/>
            </a:endParaRPr>
          </a:p>
        </p:txBody>
      </p:sp>
      <p:sp>
        <p:nvSpPr>
          <p:cNvPr id="16" name="PlaceHolder 10"/>
          <p:cNvSpPr>
            <a:spLocks noGrp="1"/>
          </p:cNvSpPr>
          <p:nvPr>
            <p:ph type="body"/>
          </p:nvPr>
        </p:nvSpPr>
        <p:spPr>
          <a:xfrm>
            <a:off x="457200" y="1371600"/>
            <a:ext cx="8229240" cy="4525560"/>
          </a:xfrm>
          <a:prstGeom prst="rect">
            <a:avLst/>
          </a:prstGeom>
        </p:spPr>
        <p:txBody>
          <a:bodyPr>
            <a:noAutofit/>
          </a:bodyPr>
          <a:lstStyle/>
          <a:p>
            <a:pPr marL="343080" indent="-342720">
              <a:lnSpc>
                <a:spcPct val="100000"/>
              </a:lnSpc>
              <a:spcBef>
                <a:spcPts val="641"/>
              </a:spcBef>
              <a:buClr>
                <a:srgbClr val="000000"/>
              </a:buClr>
              <a:buFont typeface="Arial"/>
              <a:buChar char="•"/>
            </a:pPr>
            <a:r>
              <a:rPr lang="en-US" sz="3200" b="0" strike="noStrike" spc="-1" dirty="0">
                <a:solidFill>
                  <a:srgbClr val="000000"/>
                </a:solidFill>
                <a:latin typeface="Calibri"/>
                <a:ea typeface="MS PGothic"/>
              </a:rPr>
              <a:t>Click to edit Master text styles</a:t>
            </a:r>
            <a:endParaRPr lang="en-US" sz="3200" b="0" strike="noStrike" spc="-1" dirty="0">
              <a:solidFill>
                <a:srgbClr val="000000"/>
              </a:solidFill>
              <a:latin typeface="Calibri"/>
            </a:endParaRPr>
          </a:p>
          <a:p>
            <a:pPr marL="743040" lvl="1" indent="-285480">
              <a:lnSpc>
                <a:spcPct val="100000"/>
              </a:lnSpc>
              <a:spcBef>
                <a:spcPts val="561"/>
              </a:spcBef>
              <a:buClr>
                <a:srgbClr val="000000"/>
              </a:buClr>
              <a:buFont typeface="Arial"/>
              <a:buChar char="–"/>
            </a:pPr>
            <a:r>
              <a:rPr lang="en-US" sz="2800" b="0" strike="noStrike" spc="-1" dirty="0">
                <a:solidFill>
                  <a:srgbClr val="000000"/>
                </a:solidFill>
                <a:latin typeface="Calibri"/>
                <a:ea typeface="MS PGothic"/>
              </a:rPr>
              <a:t>Second level</a:t>
            </a:r>
            <a:endParaRPr lang="en-US" sz="2800" b="0" strike="noStrike" spc="-1" dirty="0">
              <a:solidFill>
                <a:srgbClr val="000000"/>
              </a:solidFill>
              <a:latin typeface="Calibri"/>
            </a:endParaRPr>
          </a:p>
          <a:p>
            <a:pPr marL="1143000" lvl="2" indent="-228240">
              <a:lnSpc>
                <a:spcPct val="100000"/>
              </a:lnSpc>
              <a:spcBef>
                <a:spcPts val="479"/>
              </a:spcBef>
              <a:buClr>
                <a:srgbClr val="000000"/>
              </a:buClr>
              <a:buFont typeface="Arial"/>
              <a:buChar char="•"/>
            </a:pPr>
            <a:r>
              <a:rPr lang="en-US" sz="2400" b="0" strike="noStrike" spc="-1" dirty="0">
                <a:solidFill>
                  <a:srgbClr val="000000"/>
                </a:solidFill>
                <a:latin typeface="Calibri"/>
                <a:ea typeface="MS PGothic"/>
              </a:rPr>
              <a:t>Third level</a:t>
            </a:r>
            <a:endParaRPr lang="en-US" sz="2400" b="0" strike="noStrike" spc="-1" dirty="0">
              <a:solidFill>
                <a:srgbClr val="000000"/>
              </a:solidFill>
              <a:latin typeface="Calibri"/>
            </a:endParaRPr>
          </a:p>
          <a:p>
            <a:pPr marL="1600200" lvl="3" indent="-228240">
              <a:lnSpc>
                <a:spcPct val="100000"/>
              </a:lnSpc>
              <a:spcBef>
                <a:spcPts val="400"/>
              </a:spcBef>
              <a:buClr>
                <a:srgbClr val="000000"/>
              </a:buClr>
              <a:buFont typeface="Arial"/>
              <a:buChar char="–"/>
            </a:pPr>
            <a:r>
              <a:rPr lang="en-US" sz="2000" b="0" strike="noStrike" spc="-1" dirty="0">
                <a:solidFill>
                  <a:srgbClr val="000000"/>
                </a:solidFill>
                <a:latin typeface="Calibri"/>
                <a:ea typeface="MS PGothic"/>
              </a:rPr>
              <a:t>Fourth level</a:t>
            </a:r>
            <a:endParaRPr lang="en-US" sz="2000" b="0" strike="noStrike" spc="-1" dirty="0">
              <a:solidFill>
                <a:srgbClr val="000000"/>
              </a:solidFill>
              <a:latin typeface="Calibri"/>
            </a:endParaRPr>
          </a:p>
          <a:p>
            <a:pPr marL="2057400" lvl="4" indent="-228240">
              <a:lnSpc>
                <a:spcPct val="100000"/>
              </a:lnSpc>
              <a:spcBef>
                <a:spcPts val="400"/>
              </a:spcBef>
              <a:buClr>
                <a:srgbClr val="000000"/>
              </a:buClr>
              <a:buFont typeface="Arial"/>
              <a:buChar char="»"/>
            </a:pPr>
            <a:r>
              <a:rPr lang="en-US" sz="2000" b="0" strike="noStrike" spc="-1" dirty="0">
                <a:solidFill>
                  <a:srgbClr val="000000"/>
                </a:solidFill>
                <a:latin typeface="Calibri"/>
                <a:ea typeface="MS PGothic"/>
              </a:rPr>
              <a:t>Fifth level</a:t>
            </a:r>
            <a:endParaRPr lang="en-US" sz="2000" b="0" strike="noStrike" spc="-1" dirty="0">
              <a:solidFill>
                <a:srgbClr val="000000"/>
              </a:solidFill>
              <a:latin typeface="Calibri"/>
            </a:endParaRPr>
          </a:p>
        </p:txBody>
      </p:sp>
      <p:sp>
        <p:nvSpPr>
          <p:cNvPr id="17" name="PlaceHolder 11"/>
          <p:cNvSpPr>
            <a:spLocks noGrp="1"/>
          </p:cNvSpPr>
          <p:nvPr>
            <p:ph type="dt"/>
          </p:nvPr>
        </p:nvSpPr>
        <p:spPr>
          <a:xfrm>
            <a:off x="457200" y="6356520"/>
            <a:ext cx="2133360" cy="364680"/>
          </a:xfrm>
          <a:prstGeom prst="rect">
            <a:avLst/>
          </a:prstGeom>
        </p:spPr>
        <p:txBody>
          <a:bodyPr anchor="ctr">
            <a:noAutofit/>
          </a:bodyPr>
          <a:lstStyle/>
          <a:p>
            <a:pPr>
              <a:lnSpc>
                <a:spcPct val="100000"/>
              </a:lnSpc>
            </a:pPr>
            <a:endParaRPr lang="en-GB" sz="1200" b="0" strike="noStrike" spc="-1">
              <a:latin typeface="Times New Roman"/>
            </a:endParaRPr>
          </a:p>
        </p:txBody>
      </p:sp>
      <p:sp>
        <p:nvSpPr>
          <p:cNvPr id="18" name="PlaceHolder 12"/>
          <p:cNvSpPr>
            <a:spLocks noGrp="1"/>
          </p:cNvSpPr>
          <p:nvPr>
            <p:ph type="ftr"/>
          </p:nvPr>
        </p:nvSpPr>
        <p:spPr>
          <a:xfrm>
            <a:off x="3124080" y="6356520"/>
            <a:ext cx="2895120" cy="364680"/>
          </a:xfrm>
          <a:prstGeom prst="rect">
            <a:avLst/>
          </a:prstGeom>
        </p:spPr>
        <p:txBody>
          <a:bodyPr anchor="ctr">
            <a:noAutofit/>
          </a:bodyPr>
          <a:lstStyle/>
          <a:p>
            <a:r>
              <a:rPr lang="en-GB" sz="2400" b="0" strike="noStrike" spc="-1">
                <a:latin typeface="Times New Roman"/>
              </a:rPr>
              <a:t>Name</a:t>
            </a:r>
          </a:p>
        </p:txBody>
      </p:sp>
      <p:sp>
        <p:nvSpPr>
          <p:cNvPr id="19" name="PlaceHolder 13"/>
          <p:cNvSpPr>
            <a:spLocks noGrp="1"/>
          </p:cNvSpPr>
          <p:nvPr>
            <p:ph type="sldNum"/>
          </p:nvPr>
        </p:nvSpPr>
        <p:spPr>
          <a:xfrm>
            <a:off x="6553080" y="6356520"/>
            <a:ext cx="2133360" cy="364680"/>
          </a:xfrm>
          <a:prstGeom prst="rect">
            <a:avLst/>
          </a:prstGeom>
        </p:spPr>
        <p:txBody>
          <a:bodyPr anchor="ctr">
            <a:noAutofit/>
          </a:bodyPr>
          <a:lstStyle/>
          <a:p>
            <a:pPr algn="r">
              <a:lnSpc>
                <a:spcPct val="100000"/>
              </a:lnSpc>
            </a:pPr>
            <a:fld id="{1CFDC92E-FF5D-4613-8499-B15BC16E50D9}" type="slidenum">
              <a:rPr lang="en-US" sz="1200" b="0" strike="noStrike" spc="-1">
                <a:solidFill>
                  <a:srgbClr val="898989"/>
                </a:solidFill>
                <a:latin typeface="Calibri"/>
                <a:ea typeface="MS PGothic"/>
              </a:rPr>
              <a:pPr algn="r">
                <a:lnSpc>
                  <a:spcPct val="100000"/>
                </a:lnSpc>
              </a:p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p:cNvSpPr txBox="1"/>
          <p:nvPr/>
        </p:nvSpPr>
        <p:spPr>
          <a:xfrm>
            <a:off x="0" y="840631"/>
            <a:ext cx="9144000" cy="5377289"/>
          </a:xfrm>
          <a:prstGeom prst="rect">
            <a:avLst/>
          </a:prstGeom>
          <a:noFill/>
          <a:ln w="9360">
            <a:noFill/>
          </a:ln>
        </p:spPr>
        <p:txBody>
          <a:bodyPr>
            <a:noAutofit/>
          </a:bodyPr>
          <a:lstStyle/>
          <a:p>
            <a:pPr algn="ctr">
              <a:lnSpc>
                <a:spcPct val="100000"/>
              </a:lnSpc>
              <a:spcBef>
                <a:spcPts val="400"/>
              </a:spcBef>
            </a:pPr>
            <a:r>
              <a:rPr lang="en-IN" b="1" dirty="0">
                <a:latin typeface="Times New Roman" panose="02020603050405020304" pitchFamily="18" charset="0"/>
                <a:ea typeface="Calibri" panose="020F0502020204030204" pitchFamily="34" charset="0"/>
                <a:cs typeface="Times New Roman" panose="02020603050405020304" pitchFamily="18" charset="0"/>
              </a:rPr>
              <a:t>Project Presentation of </a:t>
            </a:r>
            <a:r>
              <a:rPr lang="en-US" b="1" dirty="0">
                <a:latin typeface="Times New Roman" panose="02020603050405020304" pitchFamily="18" charset="0"/>
                <a:ea typeface="Calibri" panose="020F0502020204030204" pitchFamily="34" charset="0"/>
                <a:cs typeface="Times New Roman" panose="02020603050405020304" pitchFamily="18" charset="0"/>
              </a:rPr>
              <a:t>CO-OP Project at Industry (Module-2) </a:t>
            </a:r>
            <a:r>
              <a:rPr lang="en-IN" b="1" dirty="0">
                <a:latin typeface="Times New Roman" panose="02020603050405020304" pitchFamily="18" charset="0"/>
                <a:ea typeface="Calibri" panose="020F0502020204030204" pitchFamily="34" charset="0"/>
                <a:cs typeface="Times New Roman" panose="02020603050405020304" pitchFamily="18" charset="0"/>
              </a:rPr>
              <a:t>(22CS421)</a:t>
            </a:r>
          </a:p>
          <a:p>
            <a:pPr algn="ctr">
              <a:lnSpc>
                <a:spcPct val="100000"/>
              </a:lnSpc>
              <a:spcBef>
                <a:spcPts val="400"/>
              </a:spcBef>
            </a:pPr>
            <a:r>
              <a:rPr lang="en-US" sz="2000" spc="-1" dirty="0">
                <a:latin typeface="Times New Roman" panose="02020603050405020304" pitchFamily="18" charset="0"/>
                <a:ea typeface="Calibri" panose="020F0502020204030204" pitchFamily="34" charset="0"/>
                <a:cs typeface="Times New Roman" panose="02020603050405020304" pitchFamily="18" charset="0"/>
              </a:rPr>
              <a:t>On</a:t>
            </a:r>
          </a:p>
          <a:p>
            <a:pPr algn="ctr">
              <a:lnSpc>
                <a:spcPct val="100000"/>
              </a:lnSpc>
              <a:spcBef>
                <a:spcPts val="400"/>
              </a:spcBef>
            </a:pPr>
            <a:r>
              <a:rPr lang="en-US" sz="4400" b="0" i="0" u="none" strike="noStrike" dirty="0">
                <a:solidFill>
                  <a:srgbClr val="000000"/>
                </a:solidFill>
                <a:effectLst/>
                <a:latin typeface="Times New Roman" panose="02020603050405020304" pitchFamily="18" charset="0"/>
                <a:cs typeface="Times New Roman" panose="02020603050405020304" pitchFamily="18" charset="0"/>
              </a:rPr>
              <a:t>Deep Learning-Based Brain Tumor Detection Using CNN</a:t>
            </a:r>
            <a:endParaRPr lang="en-US" sz="2000" i="1" spc="-1"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endParaRPr lang="en-US" sz="2000"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b="0" strike="noStrike"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b="0" strike="noStrike"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b="0" strike="noStrike"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2000" spc="-1" dirty="0">
                <a:solidFill>
                  <a:srgbClr val="000000"/>
                </a:solidFill>
                <a:latin typeface="Times New Roman" panose="02020603050405020304" pitchFamily="18" charset="0"/>
                <a:ea typeface="MS PGothic"/>
                <a:cs typeface="Times New Roman" panose="02020603050405020304" pitchFamily="18" charset="0"/>
              </a:rPr>
              <a:t>Supervised By</a:t>
            </a:r>
          </a:p>
          <a:p>
            <a:pPr algn="ctr">
              <a:lnSpc>
                <a:spcPct val="100000"/>
              </a:lnSpc>
              <a:spcBef>
                <a:spcPts val="400"/>
              </a:spcBef>
            </a:pPr>
            <a:r>
              <a:rPr lang="en-US" sz="2000" b="0" strike="noStrike" spc="-1" dirty="0" err="1">
                <a:solidFill>
                  <a:srgbClr val="000000"/>
                </a:solidFill>
                <a:latin typeface="Times New Roman" panose="02020603050405020304" pitchFamily="18" charset="0"/>
                <a:ea typeface="MS PGothic"/>
                <a:cs typeface="Times New Roman" panose="02020603050405020304" pitchFamily="18" charset="0"/>
              </a:rPr>
              <a:t>Dr.Gifty</a:t>
            </a:r>
            <a:r>
              <a:rPr lang="en-US" sz="2000" b="0" strike="noStrike" spc="-1" dirty="0">
                <a:solidFill>
                  <a:srgbClr val="000000"/>
                </a:solidFill>
                <a:latin typeface="Times New Roman" panose="02020603050405020304" pitchFamily="18" charset="0"/>
                <a:ea typeface="MS PGothic"/>
                <a:cs typeface="Times New Roman" panose="02020603050405020304" pitchFamily="18" charset="0"/>
              </a:rPr>
              <a:t> Gupta</a:t>
            </a:r>
          </a:p>
          <a:p>
            <a:pPr algn="ctr">
              <a:lnSpc>
                <a:spcPct val="100000"/>
              </a:lnSpc>
              <a:spcBef>
                <a:spcPts val="400"/>
              </a:spcBef>
            </a:pPr>
            <a:endParaRPr lang="en-US" sz="20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2400" spc="-1" dirty="0">
                <a:latin typeface="Times New Roman" panose="02020603050405020304" pitchFamily="18" charset="0"/>
                <a:ea typeface="MS PGothic"/>
                <a:cs typeface="Times New Roman" panose="02020603050405020304" pitchFamily="18" charset="0"/>
              </a:rPr>
              <a:t>Department of </a:t>
            </a:r>
            <a:r>
              <a:rPr lang="en-US" sz="2400" b="0" strike="noStrike" spc="-1" dirty="0">
                <a:latin typeface="Times New Roman" panose="02020603050405020304" pitchFamily="18" charset="0"/>
                <a:ea typeface="MS PGothic"/>
                <a:cs typeface="Times New Roman" panose="02020603050405020304" pitchFamily="18" charset="0"/>
              </a:rPr>
              <a:t>Computer Science and Engineering, </a:t>
            </a:r>
          </a:p>
          <a:p>
            <a:pPr algn="ctr">
              <a:lnSpc>
                <a:spcPct val="100000"/>
              </a:lnSpc>
              <a:spcBef>
                <a:spcPts val="400"/>
              </a:spcBef>
            </a:pPr>
            <a:r>
              <a:rPr lang="en-US" sz="2400" b="0" strike="noStrike" spc="-1" dirty="0">
                <a:latin typeface="Times New Roman" panose="02020603050405020304" pitchFamily="18" charset="0"/>
                <a:ea typeface="MS PGothic"/>
                <a:cs typeface="Times New Roman" panose="02020603050405020304" pitchFamily="18" charset="0"/>
              </a:rPr>
              <a:t>Chitkara University, Punjab</a:t>
            </a:r>
          </a:p>
          <a:p>
            <a:pPr algn="ctr">
              <a:lnSpc>
                <a:spcPct val="150000"/>
              </a:lnSpc>
              <a:spcBef>
                <a:spcPts val="400"/>
              </a:spcBef>
            </a:pPr>
            <a:endParaRPr lang="en-US" sz="2000" b="0" strike="noStrike" spc="-1" dirty="0">
              <a:solidFill>
                <a:srgbClr val="000000"/>
              </a:solidFill>
              <a:latin typeface="Calibri"/>
            </a:endParaRPr>
          </a:p>
          <a:p>
            <a:pPr>
              <a:lnSpc>
                <a:spcPct val="100000"/>
              </a:lnSpc>
              <a:spcBef>
                <a:spcPts val="641"/>
              </a:spcBef>
            </a:pPr>
            <a:endParaRPr lang="en-US" sz="2000" b="0" strike="noStrike" spc="-1" dirty="0">
              <a:solidFill>
                <a:srgbClr val="000000"/>
              </a:solidFill>
              <a:latin typeface="Calibri"/>
            </a:endParaRPr>
          </a:p>
        </p:txBody>
      </p:sp>
      <p:sp>
        <p:nvSpPr>
          <p:cNvPr id="3" name="TextBox 2">
            <a:extLst>
              <a:ext uri="{FF2B5EF4-FFF2-40B4-BE49-F238E27FC236}">
                <a16:creationId xmlns:a16="http://schemas.microsoft.com/office/drawing/2014/main" id="{7CD91FF5-D56A-F7B1-DB88-5F50AEF3FFB9}"/>
              </a:ext>
            </a:extLst>
          </p:cNvPr>
          <p:cNvSpPr txBox="1"/>
          <p:nvPr/>
        </p:nvSpPr>
        <p:spPr>
          <a:xfrm flipH="1">
            <a:off x="2506532" y="3149684"/>
            <a:ext cx="1861072" cy="759182"/>
          </a:xfrm>
          <a:prstGeom prst="rect">
            <a:avLst/>
          </a:prstGeom>
          <a:noFill/>
        </p:spPr>
        <p:txBody>
          <a:bodyPr wrap="square" rtlCol="0">
            <a:spAutoFit/>
          </a:bodyPr>
          <a:lstStyle/>
          <a:p>
            <a:pPr algn="ctr">
              <a:lnSpc>
                <a:spcPct val="100000"/>
              </a:lnSpc>
              <a:spcBef>
                <a:spcPts val="400"/>
              </a:spcBef>
            </a:pPr>
            <a:r>
              <a:rPr lang="en-US" sz="2000" spc="-1" dirty="0" err="1">
                <a:solidFill>
                  <a:srgbClr val="000000"/>
                </a:solidFill>
                <a:latin typeface="Times New Roman" panose="02020603050405020304" pitchFamily="18" charset="0"/>
                <a:ea typeface="MS PGothic"/>
                <a:cs typeface="Times New Roman" panose="02020603050405020304" pitchFamily="18" charset="0"/>
              </a:rPr>
              <a:t>Garv</a:t>
            </a:r>
            <a:r>
              <a:rPr lang="en-US" sz="2000" spc="-1" dirty="0">
                <a:solidFill>
                  <a:srgbClr val="000000"/>
                </a:solidFill>
                <a:latin typeface="Times New Roman" panose="02020603050405020304" pitchFamily="18" charset="0"/>
                <a:ea typeface="MS PGothic"/>
                <a:cs typeface="Times New Roman" panose="02020603050405020304" pitchFamily="18" charset="0"/>
              </a:rPr>
              <a:t> Saini</a:t>
            </a:r>
          </a:p>
          <a:p>
            <a:pPr algn="ctr">
              <a:lnSpc>
                <a:spcPct val="100000"/>
              </a:lnSpc>
              <a:spcBef>
                <a:spcPts val="400"/>
              </a:spcBef>
            </a:pPr>
            <a:r>
              <a:rPr lang="en-US" sz="2000" b="0" strike="noStrike" spc="-1" dirty="0">
                <a:solidFill>
                  <a:srgbClr val="000000"/>
                </a:solidFill>
                <a:latin typeface="Times New Roman" panose="02020603050405020304" pitchFamily="18" charset="0"/>
                <a:ea typeface="MS PGothic"/>
                <a:cs typeface="Times New Roman" panose="02020603050405020304" pitchFamily="18" charset="0"/>
              </a:rPr>
              <a:t>2210990315</a:t>
            </a:r>
            <a:endParaRPr lang="en-US" sz="2000" spc="-1" dirty="0">
              <a:solidFill>
                <a:srgbClr val="000000"/>
              </a:solidFill>
              <a:latin typeface="Times New Roman" panose="02020603050405020304" pitchFamily="18" charset="0"/>
              <a:ea typeface="MS PGothic"/>
              <a:cs typeface="Times New Roman" panose="02020603050405020304" pitchFamily="18" charset="0"/>
            </a:endParaRPr>
          </a:p>
        </p:txBody>
      </p:sp>
      <p:sp>
        <p:nvSpPr>
          <p:cNvPr id="5" name="TextBox 4">
            <a:extLst>
              <a:ext uri="{FF2B5EF4-FFF2-40B4-BE49-F238E27FC236}">
                <a16:creationId xmlns:a16="http://schemas.microsoft.com/office/drawing/2014/main" id="{D0EE855E-D505-8ABA-92CE-5616765B6958}"/>
              </a:ext>
            </a:extLst>
          </p:cNvPr>
          <p:cNvSpPr txBox="1"/>
          <p:nvPr/>
        </p:nvSpPr>
        <p:spPr>
          <a:xfrm>
            <a:off x="4787152" y="3141378"/>
            <a:ext cx="1968649" cy="1036181"/>
          </a:xfrm>
          <a:prstGeom prst="rect">
            <a:avLst/>
          </a:prstGeom>
          <a:noFill/>
        </p:spPr>
        <p:txBody>
          <a:bodyPr wrap="square" rtlCol="0">
            <a:spAutoFit/>
          </a:bodyPr>
          <a:lstStyle/>
          <a:p>
            <a:pPr algn="ctr">
              <a:lnSpc>
                <a:spcPct val="100000"/>
              </a:lnSpc>
              <a:spcBef>
                <a:spcPts val="400"/>
              </a:spcBef>
            </a:pPr>
            <a:r>
              <a:rPr lang="en-US" sz="2000" spc="-1" dirty="0">
                <a:solidFill>
                  <a:srgbClr val="000000"/>
                </a:solidFill>
                <a:latin typeface="Times New Roman" panose="02020603050405020304" pitchFamily="18" charset="0"/>
                <a:ea typeface="MS PGothic"/>
                <a:cs typeface="Times New Roman" panose="02020603050405020304" pitchFamily="18" charset="0"/>
              </a:rPr>
              <a:t>Arshdeep Singh</a:t>
            </a:r>
          </a:p>
          <a:p>
            <a:pPr algn="ctr">
              <a:lnSpc>
                <a:spcPct val="100000"/>
              </a:lnSpc>
              <a:spcBef>
                <a:spcPts val="400"/>
              </a:spcBef>
            </a:pPr>
            <a:r>
              <a:rPr lang="en-US" sz="2000" b="0" strike="noStrike" spc="-1" dirty="0">
                <a:solidFill>
                  <a:srgbClr val="000000"/>
                </a:solidFill>
                <a:latin typeface="Times New Roman" panose="02020603050405020304" pitchFamily="18" charset="0"/>
                <a:ea typeface="MS PGothic"/>
                <a:cs typeface="Times New Roman" panose="02020603050405020304" pitchFamily="18" charset="0"/>
              </a:rPr>
              <a:t>2210990171</a:t>
            </a:r>
          </a:p>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457200" y="0"/>
            <a:ext cx="6019560" cy="837720"/>
          </a:xfrm>
          <a:prstGeom prst="rect">
            <a:avLst/>
          </a:prstGeom>
          <a:noFill/>
          <a:ln w="9360">
            <a:noFill/>
          </a:ln>
        </p:spPr>
        <p:txBody>
          <a:bodyPr anchor="ctr">
            <a:noAutofit/>
          </a:bodyPr>
          <a:lstStyle/>
          <a:p>
            <a:pPr algn="ctr">
              <a:lnSpc>
                <a:spcPct val="100000"/>
              </a:lnSpc>
            </a:pPr>
            <a:r>
              <a:rPr lang="en" sz="3200" dirty="0">
                <a:latin typeface="Times New Roman" panose="02020603050405020304" pitchFamily="18" charset="0"/>
                <a:cs typeface="Times New Roman" panose="02020603050405020304" pitchFamily="18" charset="0"/>
              </a:rPr>
              <a:t>Introduction</a:t>
            </a:r>
            <a:endParaRPr lang="en-US" sz="30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2</a:t>
            </a:fld>
            <a:endParaRPr lang="en-GB" sz="1200" b="0" strike="noStrike" spc="-1">
              <a:latin typeface="Times New Roman"/>
            </a:endParaRPr>
          </a:p>
        </p:txBody>
      </p:sp>
      <p:sp>
        <p:nvSpPr>
          <p:cNvPr id="5" name="TextShape 2"/>
          <p:cNvSpPr txBox="1"/>
          <p:nvPr/>
        </p:nvSpPr>
        <p:spPr>
          <a:xfrm>
            <a:off x="152640" y="1009714"/>
            <a:ext cx="8838720" cy="5346806"/>
          </a:xfrm>
          <a:prstGeom prst="rect">
            <a:avLst/>
          </a:prstGeom>
          <a:noFill/>
          <a:ln w="9360">
            <a:noFill/>
          </a:ln>
        </p:spPr>
        <p:txBody>
          <a:bodyPr>
            <a:noAutofit/>
          </a:bodyPr>
          <a:lstStyle/>
          <a:p>
            <a:pPr marL="139700" lvl="0">
              <a:buClr>
                <a:srgbClr val="000000"/>
              </a:buClr>
              <a:buSzPts val="1400"/>
            </a:pPr>
            <a:endParaRPr lang="en-US" sz="3600" b="1" i="0" u="none" strike="noStrike" dirty="0">
              <a:solidFill>
                <a:srgbClr val="000000"/>
              </a:solidFill>
              <a:effectLst/>
            </a:endParaRPr>
          </a:p>
          <a:p>
            <a:pPr algn="l"/>
            <a:r>
              <a:rPr lang="en-US" sz="2000" b="0" i="0" u="none" strike="noStrike" dirty="0">
                <a:solidFill>
                  <a:srgbClr val="000000"/>
                </a:solidFill>
                <a:effectLst/>
                <a:latin typeface="Times New Roman" panose="02020603050405020304" pitchFamily="18" charset="0"/>
                <a:cs typeface="Times New Roman" panose="02020603050405020304" pitchFamily="18" charset="0"/>
              </a:rPr>
              <a:t>Brain tumors are abnormal growths of cells in the brain that can be either benign (non-cancerous) or malignant (cancerous), and they pose a serious threat to human life as they affect critical brain functions. Early detection and accurate diagnosis are extremely important for effective treatment and improving patient survival rates. Magnetic Resonance Imaging (MRI) is one of the most widely used techniques for brain imaging because it provides detailed and high-resolution images of brain tissues. However, traditional analysis of MRI scans relies heavily on manual interpretation by radiologists, which is often time-consuming and prone to human error, especially when dealing with large volumes of data. Therefore, there is a strong need for automated and efficient systems that can assist in the accurate and faster detection of brain tumors.</a:t>
            </a:r>
            <a:endParaRPr lang="en-US" sz="2000" dirty="0">
              <a:latin typeface="Times New Roman" panose="02020603050405020304" pitchFamily="18" charset="0"/>
              <a:ea typeface="Calibri" panose="020F0502020204030204" pitchFamily="34" charset="0"/>
              <a:cs typeface="Times New Roman" panose="02020603050405020304" pitchFamily="18" charset="0"/>
            </a:endParaRPr>
          </a:p>
          <a:p>
            <a:pPr>
              <a:lnSpc>
                <a:spcPct val="100000"/>
              </a:lnSpc>
              <a:spcBef>
                <a:spcPts val="400"/>
              </a:spcBef>
            </a:pPr>
            <a:endParaRPr lang="en-US" sz="1900" b="0" strike="noStrike" spc="-1" dirty="0">
              <a:solidFill>
                <a:srgbClr val="000000"/>
              </a:solidFill>
              <a:latin typeface="Calibri"/>
            </a:endParaRPr>
          </a:p>
          <a:p>
            <a:pPr>
              <a:lnSpc>
                <a:spcPct val="100000"/>
              </a:lnSpc>
              <a:spcBef>
                <a:spcPts val="400"/>
              </a:spcBef>
            </a:pPr>
            <a:endParaRPr lang="en-US" sz="1900" spc="-1" dirty="0">
              <a:solidFill>
                <a:srgbClr val="000000"/>
              </a:solidFill>
              <a:latin typeface="Calibri"/>
            </a:endParaRPr>
          </a:p>
          <a:p>
            <a:pPr>
              <a:lnSpc>
                <a:spcPct val="150000"/>
              </a:lnSpc>
              <a:spcBef>
                <a:spcPts val="400"/>
              </a:spcBef>
            </a:pPr>
            <a:endParaRPr lang="en-US" sz="1900" b="0" strike="noStrike" spc="-1" dirty="0">
              <a:solidFill>
                <a:srgbClr val="000000"/>
              </a:solidFill>
              <a:latin typeface="Calibri"/>
            </a:endParaRPr>
          </a:p>
          <a:p>
            <a:pPr>
              <a:lnSpc>
                <a:spcPct val="150000"/>
              </a:lnSpc>
              <a:spcBef>
                <a:spcPts val="400"/>
              </a:spcBef>
            </a:pPr>
            <a:endParaRPr lang="en-US" sz="1900" b="0" strike="noStrike" spc="-1" dirty="0">
              <a:solidFill>
                <a:srgbClr val="000000"/>
              </a:solidFill>
              <a:latin typeface="Calibri"/>
            </a:endParaRPr>
          </a:p>
          <a:p>
            <a:pPr>
              <a:lnSpc>
                <a:spcPct val="150000"/>
              </a:lnSpc>
              <a:spcBef>
                <a:spcPts val="400"/>
              </a:spcBef>
            </a:pPr>
            <a:endParaRPr lang="en-US" sz="1900" b="0" strike="noStrike" spc="-1" dirty="0">
              <a:solidFill>
                <a:srgbClr val="000000"/>
              </a:solidFill>
              <a:latin typeface="Calibri"/>
            </a:endParaRPr>
          </a:p>
          <a:p>
            <a:pPr>
              <a:lnSpc>
                <a:spcPct val="150000"/>
              </a:lnSpc>
              <a:spcBef>
                <a:spcPts val="400"/>
              </a:spcBef>
            </a:pPr>
            <a:endParaRPr lang="en-US" sz="1900" b="0" strike="noStrike" spc="-1" dirty="0">
              <a:solidFill>
                <a:srgbClr val="000000"/>
              </a:solidFill>
              <a:latin typeface="Calibri"/>
            </a:endParaRPr>
          </a:p>
          <a:p>
            <a:pPr>
              <a:lnSpc>
                <a:spcPct val="100000"/>
              </a:lnSpc>
              <a:spcBef>
                <a:spcPts val="400"/>
              </a:spcBef>
            </a:pPr>
            <a:endParaRPr lang="en-US" sz="1900" b="0" strike="noStrike" spc="-1" dirty="0">
              <a:solidFill>
                <a:srgbClr val="000000"/>
              </a:solidFill>
              <a:latin typeface="Calibri"/>
            </a:endParaRPr>
          </a:p>
          <a:p>
            <a:pPr>
              <a:lnSpc>
                <a:spcPct val="100000"/>
              </a:lnSpc>
              <a:spcBef>
                <a:spcPts val="400"/>
              </a:spcBef>
            </a:pPr>
            <a:endParaRPr lang="en-US" sz="1900" b="0" strike="noStrike" spc="-1" dirty="0">
              <a:solidFill>
                <a:srgbClr val="000000"/>
              </a:solidFill>
              <a:latin typeface="Calibri"/>
            </a:endParaRPr>
          </a:p>
          <a:p>
            <a:pPr>
              <a:lnSpc>
                <a:spcPct val="100000"/>
              </a:lnSpc>
              <a:spcBef>
                <a:spcPts val="400"/>
              </a:spcBef>
            </a:pPr>
            <a:endParaRPr lang="en-US" sz="1900" b="0" strike="noStrike" spc="-1" dirty="0">
              <a:solidFill>
                <a:srgbClr val="000000"/>
              </a:solidFill>
              <a:latin typeface="Calibri"/>
            </a:endParaRPr>
          </a:p>
          <a:p>
            <a:pPr>
              <a:lnSpc>
                <a:spcPct val="100000"/>
              </a:lnSpc>
              <a:spcBef>
                <a:spcPts val="400"/>
              </a:spcBef>
            </a:pPr>
            <a:endParaRPr lang="en-US" sz="1900" b="0" strike="noStrike" spc="-1" dirty="0">
              <a:solidFill>
                <a:srgbClr val="000000"/>
              </a:solidFill>
              <a:latin typeface="Calibri"/>
            </a:endParaRPr>
          </a:p>
          <a:p>
            <a:pPr>
              <a:lnSpc>
                <a:spcPct val="100000"/>
              </a:lnSpc>
              <a:spcBef>
                <a:spcPts val="400"/>
              </a:spcBef>
            </a:pPr>
            <a:endParaRPr lang="en-US" sz="1900" b="0" strike="noStrike" spc="-1" dirty="0">
              <a:solidFill>
                <a:srgbClr val="000000"/>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7CE7A-FEFF-DBD6-BCED-962D652C7A29}"/>
              </a:ext>
            </a:extLst>
          </p:cNvPr>
          <p:cNvSpPr>
            <a:spLocks noGrp="1"/>
          </p:cNvSpPr>
          <p:nvPr>
            <p:ph type="title"/>
          </p:nvPr>
        </p:nvSpPr>
        <p:spPr/>
        <p:txBody>
          <a:bodyPr/>
          <a:lstStyle/>
          <a:p>
            <a:pPr algn="ctr"/>
            <a:r>
              <a:rPr lang="en-US" sz="3200" dirty="0"/>
              <a:t>Problem</a:t>
            </a:r>
            <a:r>
              <a:rPr lang="en-US" dirty="0"/>
              <a:t> </a:t>
            </a:r>
            <a:r>
              <a:rPr lang="en-US" sz="3200" dirty="0"/>
              <a:t>Statement</a:t>
            </a:r>
          </a:p>
        </p:txBody>
      </p:sp>
      <p:sp>
        <p:nvSpPr>
          <p:cNvPr id="3" name="Subtitle 2">
            <a:extLst>
              <a:ext uri="{FF2B5EF4-FFF2-40B4-BE49-F238E27FC236}">
                <a16:creationId xmlns:a16="http://schemas.microsoft.com/office/drawing/2014/main" id="{212169EC-2E11-2F39-CD42-B18B41281FA4}"/>
              </a:ext>
            </a:extLst>
          </p:cNvPr>
          <p:cNvSpPr>
            <a:spLocks noGrp="1"/>
          </p:cNvSpPr>
          <p:nvPr>
            <p:ph type="subTitle"/>
          </p:nvPr>
        </p:nvSpPr>
        <p:spPr>
          <a:xfrm>
            <a:off x="457200" y="1604520"/>
            <a:ext cx="8229240" cy="4430520"/>
          </a:xfrm>
        </p:spPr>
        <p:txBody>
          <a:bodyPr/>
          <a:lstStyle/>
          <a:p>
            <a:pPr marL="0" indent="0">
              <a:buNone/>
            </a:pPr>
            <a:r>
              <a:rPr lang="en-US" sz="2000" dirty="0">
                <a:latin typeface="Times New Roman" panose="02020603050405020304" pitchFamily="18" charset="0"/>
                <a:cs typeface="Times New Roman" panose="02020603050405020304" pitchFamily="18" charset="0"/>
              </a:rPr>
              <a:t>Manual analysis of MRI scans is a time-consuming and labor-intensive process that requires radiologists to carefully examine each image, which becomes increasingly difficult when dealing with a large number of scans. This heavy reliance on human interpretation also introduces the possibility of errors, as even experienced professionals may overlook subtle patterns or inconsistencies, leading to inaccurate diagnoses. Additionally, the rapid growth in medical imaging data makes it challenging to efficiently process and analyze such vast datasets using traditional methods. These limitations highlight the urgent need for a system that is not only faster but also more accurate and reliable. Therefore, developing an automated approach for brain tumor detection can significantly reduce human effort, minimize errors, and improve the overall efficiency and precision of medical diagnosis.</a:t>
            </a:r>
          </a:p>
          <a:p>
            <a:endParaRPr lang="en-US" dirty="0"/>
          </a:p>
        </p:txBody>
      </p:sp>
    </p:spTree>
    <p:extLst>
      <p:ext uri="{BB962C8B-B14F-4D97-AF65-F5344CB8AC3E}">
        <p14:creationId xmlns:p14="http://schemas.microsoft.com/office/powerpoint/2010/main" val="29995707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A8FB3-E838-2025-89DA-4DDA6F6AA8DD}"/>
              </a:ext>
            </a:extLst>
          </p:cNvPr>
          <p:cNvSpPr>
            <a:spLocks noGrp="1"/>
          </p:cNvSpPr>
          <p:nvPr>
            <p:ph type="title"/>
          </p:nvPr>
        </p:nvSpPr>
        <p:spPr/>
        <p:txBody>
          <a:bodyPr/>
          <a:lstStyle/>
          <a:p>
            <a:pPr algn="ctr"/>
            <a:r>
              <a:rPr lang="en-US" sz="3200" dirty="0"/>
              <a:t>Objective</a:t>
            </a:r>
          </a:p>
        </p:txBody>
      </p:sp>
      <p:sp>
        <p:nvSpPr>
          <p:cNvPr id="3" name="Subtitle 2">
            <a:extLst>
              <a:ext uri="{FF2B5EF4-FFF2-40B4-BE49-F238E27FC236}">
                <a16:creationId xmlns:a16="http://schemas.microsoft.com/office/drawing/2014/main" id="{926F8D26-ADDE-25AE-5FE2-0EC393F0CB70}"/>
              </a:ext>
            </a:extLst>
          </p:cNvPr>
          <p:cNvSpPr>
            <a:spLocks noGrp="1"/>
          </p:cNvSpPr>
          <p:nvPr>
            <p:ph type="subTitle"/>
          </p:nvPr>
        </p:nvSpPr>
        <p:spPr>
          <a:xfrm>
            <a:off x="457200" y="914041"/>
            <a:ext cx="8229240" cy="5691154"/>
          </a:xfrm>
        </p:spPr>
        <p:txBody>
          <a:bodyPr/>
          <a:lstStyle/>
          <a:p>
            <a:pPr>
              <a:buFont typeface="Arial" panose="020B0604020202020204" pitchFamily="34" charset="0"/>
              <a:buChar char="•"/>
            </a:pPr>
            <a:r>
              <a:rPr lang="en-US" sz="2000" dirty="0"/>
              <a:t>Develop an automated brain tumor detection system</a:t>
            </a:r>
          </a:p>
          <a:p>
            <a:pPr>
              <a:buFont typeface="Arial" panose="020B0604020202020204" pitchFamily="34" charset="0"/>
              <a:buChar char="•"/>
            </a:pPr>
            <a:r>
              <a:rPr lang="en-US" sz="2000" dirty="0"/>
              <a:t>Use deep learning technique: Convolutional Neural Networks (CNNs)</a:t>
            </a:r>
          </a:p>
          <a:p>
            <a:pPr>
              <a:buFont typeface="Arial" panose="020B0604020202020204" pitchFamily="34" charset="0"/>
              <a:buChar char="•"/>
            </a:pPr>
            <a:r>
              <a:rPr lang="en-US" sz="2000" dirty="0"/>
              <a:t>Analyze MRI brain images efficiently</a:t>
            </a:r>
          </a:p>
          <a:p>
            <a:pPr>
              <a:buFont typeface="Arial" panose="020B0604020202020204" pitchFamily="34" charset="0"/>
              <a:buChar char="•"/>
            </a:pPr>
            <a:r>
              <a:rPr lang="en-US" sz="2000" dirty="0"/>
              <a:t>Classify images into:</a:t>
            </a:r>
          </a:p>
          <a:p>
            <a:pPr>
              <a:buFont typeface="Arial" panose="020B0604020202020204" pitchFamily="34" charset="0"/>
              <a:buChar char="•"/>
            </a:pPr>
            <a:r>
              <a:rPr lang="en-US" sz="2000" dirty="0"/>
              <a:t>Tumor</a:t>
            </a:r>
          </a:p>
          <a:p>
            <a:pPr>
              <a:buFont typeface="Arial" panose="020B0604020202020204" pitchFamily="34" charset="0"/>
              <a:buChar char="•"/>
            </a:pPr>
            <a:r>
              <a:rPr lang="en-US" sz="2000" dirty="0"/>
              <a:t>Non-Tumor</a:t>
            </a:r>
          </a:p>
          <a:p>
            <a:r>
              <a:rPr lang="en-US" sz="2000" dirty="0"/>
              <a:t>Automatically learn complex patterns from data</a:t>
            </a:r>
          </a:p>
          <a:p>
            <a:r>
              <a:rPr lang="en-US" sz="2000" dirty="0"/>
              <a:t>Reduce dependency on manual diagnosis</a:t>
            </a:r>
          </a:p>
          <a:p>
            <a:r>
              <a:rPr lang="en-US" sz="2000" dirty="0"/>
              <a:t>Improve accuracy and reliability</a:t>
            </a:r>
          </a:p>
          <a:p>
            <a:r>
              <a:rPr lang="en-US" sz="2000" dirty="0"/>
              <a:t>Minimize human error</a:t>
            </a:r>
          </a:p>
          <a:p>
            <a:r>
              <a:rPr lang="en-US" sz="2000" dirty="0"/>
              <a:t>Speed up the diagnosis process</a:t>
            </a:r>
          </a:p>
          <a:p>
            <a:r>
              <a:rPr lang="en-US" sz="2000" dirty="0"/>
              <a:t>Provide consistent and scalable results</a:t>
            </a:r>
          </a:p>
          <a:p>
            <a:r>
              <a:rPr lang="en-US" sz="2000" dirty="0"/>
              <a:t>Assist medical professionals in decision-making</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981941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4FE43-B590-2178-BF68-180D5495DB56}"/>
              </a:ext>
            </a:extLst>
          </p:cNvPr>
          <p:cNvSpPr>
            <a:spLocks noGrp="1"/>
          </p:cNvSpPr>
          <p:nvPr>
            <p:ph type="title"/>
          </p:nvPr>
        </p:nvSpPr>
        <p:spPr/>
        <p:txBody>
          <a:bodyPr/>
          <a:lstStyle/>
          <a:p>
            <a:pPr algn="ctr"/>
            <a:r>
              <a:rPr lang="en-US" sz="3200" b="0" i="0" u="none" strike="noStrike" dirty="0">
                <a:solidFill>
                  <a:srgbClr val="000000"/>
                </a:solidFill>
                <a:effectLst/>
                <a:latin typeface="-webkit-standard"/>
              </a:rPr>
              <a:t>Methodology</a:t>
            </a:r>
            <a:endParaRPr lang="en-US" sz="3200" dirty="0"/>
          </a:p>
        </p:txBody>
      </p:sp>
      <p:sp>
        <p:nvSpPr>
          <p:cNvPr id="3" name="Subtitle 2">
            <a:extLst>
              <a:ext uri="{FF2B5EF4-FFF2-40B4-BE49-F238E27FC236}">
                <a16:creationId xmlns:a16="http://schemas.microsoft.com/office/drawing/2014/main" id="{561ACCB9-EB0C-E275-707B-4E6BC6BC894E}"/>
              </a:ext>
            </a:extLst>
          </p:cNvPr>
          <p:cNvSpPr>
            <a:spLocks noGrp="1"/>
          </p:cNvSpPr>
          <p:nvPr>
            <p:ph type="subTitle"/>
          </p:nvPr>
        </p:nvSpPr>
        <p:spPr>
          <a:xfrm>
            <a:off x="457200" y="817581"/>
            <a:ext cx="8229240" cy="3334871"/>
          </a:xfrm>
        </p:spPr>
        <p:txBody>
          <a:bodyPr/>
          <a:lstStyle/>
          <a:p>
            <a:pPr algn="l">
              <a:buFont typeface="Arial" panose="020B0604020202020204" pitchFamily="34" charset="0"/>
              <a:buChar char="•"/>
            </a:pPr>
            <a:r>
              <a:rPr lang="en-US" sz="2000" b="0" i="0" u="none" strike="noStrike" dirty="0">
                <a:solidFill>
                  <a:srgbClr val="000000"/>
                </a:solidFill>
                <a:effectLst/>
              </a:rPr>
              <a:t>Data Collection</a:t>
            </a:r>
          </a:p>
          <a:p>
            <a:pPr algn="l">
              <a:buFont typeface="Arial" panose="020B0604020202020204" pitchFamily="34" charset="0"/>
              <a:buChar char="•"/>
            </a:pPr>
            <a:r>
              <a:rPr lang="en-US" sz="2000" b="0" i="0" u="none" strike="noStrike" dirty="0">
                <a:solidFill>
                  <a:srgbClr val="000000"/>
                </a:solidFill>
                <a:effectLst/>
              </a:rPr>
              <a:t>Data Preprocessing</a:t>
            </a:r>
          </a:p>
          <a:p>
            <a:pPr algn="l">
              <a:buFont typeface="Arial" panose="020B0604020202020204" pitchFamily="34" charset="0"/>
              <a:buChar char="•"/>
            </a:pPr>
            <a:r>
              <a:rPr lang="en-US" sz="2000" b="0" i="0" u="none" strike="noStrike" dirty="0">
                <a:solidFill>
                  <a:srgbClr val="000000"/>
                </a:solidFill>
                <a:effectLst/>
              </a:rPr>
              <a:t>CNN Model Design</a:t>
            </a:r>
          </a:p>
          <a:p>
            <a:pPr algn="l">
              <a:buFont typeface="Arial" panose="020B0604020202020204" pitchFamily="34" charset="0"/>
              <a:buChar char="•"/>
            </a:pPr>
            <a:r>
              <a:rPr lang="en-US" sz="2000" b="0" i="0" u="none" strike="noStrike" dirty="0">
                <a:solidFill>
                  <a:srgbClr val="000000"/>
                </a:solidFill>
                <a:effectLst/>
              </a:rPr>
              <a:t>Model Training</a:t>
            </a:r>
          </a:p>
          <a:p>
            <a:pPr algn="l">
              <a:buFont typeface="Arial" panose="020B0604020202020204" pitchFamily="34" charset="0"/>
              <a:buChar char="•"/>
            </a:pPr>
            <a:r>
              <a:rPr lang="en-US" sz="2000" b="0" i="0" u="none" strike="noStrike" dirty="0">
                <a:solidFill>
                  <a:srgbClr val="000000"/>
                </a:solidFill>
                <a:effectLst/>
              </a:rPr>
              <a:t>Classification</a:t>
            </a:r>
          </a:p>
          <a:p>
            <a:endParaRPr lang="en-US" dirty="0"/>
          </a:p>
        </p:txBody>
      </p:sp>
      <p:pic>
        <p:nvPicPr>
          <p:cNvPr id="5" name="Picture 4" descr="A diagram of a brain tumor detection&#10;&#10;AI-generated content may be incorrect.">
            <a:extLst>
              <a:ext uri="{FF2B5EF4-FFF2-40B4-BE49-F238E27FC236}">
                <a16:creationId xmlns:a16="http://schemas.microsoft.com/office/drawing/2014/main" id="{72D387FB-9F1B-A535-93C8-29F553AD8F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132" y="3429000"/>
            <a:ext cx="7875375" cy="3085199"/>
          </a:xfrm>
          <a:prstGeom prst="rect">
            <a:avLst/>
          </a:prstGeom>
        </p:spPr>
      </p:pic>
    </p:spTree>
    <p:extLst>
      <p:ext uri="{BB962C8B-B14F-4D97-AF65-F5344CB8AC3E}">
        <p14:creationId xmlns:p14="http://schemas.microsoft.com/office/powerpoint/2010/main" val="29900646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94132-8E84-AEF6-ED04-B948CA1ABC78}"/>
              </a:ext>
            </a:extLst>
          </p:cNvPr>
          <p:cNvSpPr>
            <a:spLocks noGrp="1"/>
          </p:cNvSpPr>
          <p:nvPr>
            <p:ph type="title"/>
          </p:nvPr>
        </p:nvSpPr>
        <p:spPr/>
        <p:txBody>
          <a:bodyPr/>
          <a:lstStyle/>
          <a:p>
            <a:pPr algn="ctr"/>
            <a:r>
              <a:rPr lang="en-US" sz="3200" b="0" i="0" u="none" strike="noStrike" dirty="0">
                <a:solidFill>
                  <a:srgbClr val="000000"/>
                </a:solidFill>
                <a:effectLst/>
                <a:latin typeface="-webkit-standard"/>
              </a:rPr>
              <a:t>Results</a:t>
            </a:r>
            <a:endParaRPr lang="en-US" sz="3200" dirty="0"/>
          </a:p>
        </p:txBody>
      </p:sp>
      <p:sp>
        <p:nvSpPr>
          <p:cNvPr id="3" name="Subtitle 2">
            <a:extLst>
              <a:ext uri="{FF2B5EF4-FFF2-40B4-BE49-F238E27FC236}">
                <a16:creationId xmlns:a16="http://schemas.microsoft.com/office/drawing/2014/main" id="{09FBAD46-DCD1-4C5A-ED62-AC259EAEAD47}"/>
              </a:ext>
            </a:extLst>
          </p:cNvPr>
          <p:cNvSpPr>
            <a:spLocks noGrp="1"/>
          </p:cNvSpPr>
          <p:nvPr>
            <p:ph type="subTitle"/>
          </p:nvPr>
        </p:nvSpPr>
        <p:spPr>
          <a:xfrm>
            <a:off x="623584" y="1604520"/>
            <a:ext cx="8062856" cy="3977280"/>
          </a:xfrm>
        </p:spPr>
        <p:txBody>
          <a:bodyPr/>
          <a:lstStyle/>
          <a:p>
            <a:pPr marL="0" indent="0">
              <a:buNone/>
            </a:pPr>
            <a:endParaRPr lang="en-US" dirty="0"/>
          </a:p>
        </p:txBody>
      </p:sp>
      <p:pic>
        <p:nvPicPr>
          <p:cNvPr id="5" name="Picture 4" descr="A graph showing the results of a training loss&#10;&#10;AI-generated content may be incorrect.">
            <a:extLst>
              <a:ext uri="{FF2B5EF4-FFF2-40B4-BE49-F238E27FC236}">
                <a16:creationId xmlns:a16="http://schemas.microsoft.com/office/drawing/2014/main" id="{3D846396-1E11-233D-2755-D3A2FDEC5A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0392" y="1276200"/>
            <a:ext cx="8062856" cy="4970032"/>
          </a:xfrm>
          <a:prstGeom prst="rect">
            <a:avLst/>
          </a:prstGeom>
        </p:spPr>
      </p:pic>
    </p:spTree>
    <p:extLst>
      <p:ext uri="{BB962C8B-B14F-4D97-AF65-F5344CB8AC3E}">
        <p14:creationId xmlns:p14="http://schemas.microsoft.com/office/powerpoint/2010/main" val="19210363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4893C-3D42-338A-4B80-BE33B64E0367}"/>
              </a:ext>
            </a:extLst>
          </p:cNvPr>
          <p:cNvSpPr>
            <a:spLocks noGrp="1"/>
          </p:cNvSpPr>
          <p:nvPr>
            <p:ph type="title"/>
          </p:nvPr>
        </p:nvSpPr>
        <p:spPr/>
        <p:txBody>
          <a:bodyPr/>
          <a:lstStyle/>
          <a:p>
            <a:pPr algn="ctr"/>
            <a:r>
              <a:rPr lang="en-US" sz="4400" b="0" i="0" u="none" strike="noStrike" dirty="0">
                <a:solidFill>
                  <a:srgbClr val="000000"/>
                </a:solidFill>
                <a:effectLst/>
                <a:latin typeface="-webkit-standard"/>
              </a:rPr>
              <a:t>Analysis</a:t>
            </a:r>
            <a:endParaRPr lang="en-US" dirty="0"/>
          </a:p>
        </p:txBody>
      </p:sp>
      <p:sp>
        <p:nvSpPr>
          <p:cNvPr id="3" name="Subtitle 2">
            <a:extLst>
              <a:ext uri="{FF2B5EF4-FFF2-40B4-BE49-F238E27FC236}">
                <a16:creationId xmlns:a16="http://schemas.microsoft.com/office/drawing/2014/main" id="{393C96CF-60B5-F73C-6D5E-65DCAF280FAB}"/>
              </a:ext>
            </a:extLst>
          </p:cNvPr>
          <p:cNvSpPr>
            <a:spLocks noGrp="1"/>
          </p:cNvSpPr>
          <p:nvPr>
            <p:ph type="subTitle"/>
          </p:nvPr>
        </p:nvSpPr>
        <p:spPr/>
        <p:txBody>
          <a:bodyPr/>
          <a:lstStyle/>
          <a:p>
            <a:endParaRPr lang="en-US" dirty="0"/>
          </a:p>
        </p:txBody>
      </p:sp>
      <p:pic>
        <p:nvPicPr>
          <p:cNvPr id="5" name="Picture 4" descr="A graph of a diagram&#10;&#10;AI-generated content may be incorrect.">
            <a:extLst>
              <a:ext uri="{FF2B5EF4-FFF2-40B4-BE49-F238E27FC236}">
                <a16:creationId xmlns:a16="http://schemas.microsoft.com/office/drawing/2014/main" id="{8ADFB7B4-1002-D01A-DC85-825DD14E79B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836" y="1032734"/>
            <a:ext cx="8229240" cy="5314277"/>
          </a:xfrm>
          <a:prstGeom prst="rect">
            <a:avLst/>
          </a:prstGeom>
        </p:spPr>
      </p:pic>
    </p:spTree>
    <p:extLst>
      <p:ext uri="{BB962C8B-B14F-4D97-AF65-F5344CB8AC3E}">
        <p14:creationId xmlns:p14="http://schemas.microsoft.com/office/powerpoint/2010/main" val="31118230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58E12-5944-A475-47E5-6AC5017D7318}"/>
              </a:ext>
            </a:extLst>
          </p:cNvPr>
          <p:cNvSpPr>
            <a:spLocks noGrp="1"/>
          </p:cNvSpPr>
          <p:nvPr>
            <p:ph type="title"/>
          </p:nvPr>
        </p:nvSpPr>
        <p:spPr/>
        <p:txBody>
          <a:bodyPr/>
          <a:lstStyle/>
          <a:p>
            <a:pPr algn="ctr"/>
            <a:r>
              <a:rPr lang="en-US" sz="3200" b="0" i="0" u="none" strike="noStrike" dirty="0">
                <a:solidFill>
                  <a:srgbClr val="000000"/>
                </a:solidFill>
                <a:effectLst/>
                <a:latin typeface="-webkit-standard"/>
              </a:rPr>
              <a:t>Conclusion</a:t>
            </a:r>
            <a:endParaRPr lang="en-US" sz="3200" dirty="0"/>
          </a:p>
        </p:txBody>
      </p:sp>
      <p:sp>
        <p:nvSpPr>
          <p:cNvPr id="3" name="Subtitle 2">
            <a:extLst>
              <a:ext uri="{FF2B5EF4-FFF2-40B4-BE49-F238E27FC236}">
                <a16:creationId xmlns:a16="http://schemas.microsoft.com/office/drawing/2014/main" id="{F404DBF9-3EE6-CED0-86DD-99712ECE467A}"/>
              </a:ext>
            </a:extLst>
          </p:cNvPr>
          <p:cNvSpPr>
            <a:spLocks noGrp="1"/>
          </p:cNvSpPr>
          <p:nvPr>
            <p:ph type="subTitle"/>
          </p:nvPr>
        </p:nvSpPr>
        <p:spPr>
          <a:xfrm>
            <a:off x="457200" y="914040"/>
            <a:ext cx="8229240" cy="5045696"/>
          </a:xfrm>
        </p:spPr>
        <p:txBody>
          <a:bodyPr/>
          <a:lstStyle/>
          <a:p>
            <a:r>
              <a:rPr lang="en-US" sz="2000" dirty="0">
                <a:latin typeface="Times New Roman" panose="02020603050405020304" pitchFamily="18" charset="0"/>
                <a:cs typeface="Times New Roman" panose="02020603050405020304" pitchFamily="18" charset="0"/>
              </a:rPr>
              <a:t>The CNN-based system proves to be highly effective in automatically detecting brain tumors from MRI images with reliable performance.</a:t>
            </a:r>
          </a:p>
          <a:p>
            <a:r>
              <a:rPr lang="en-US" sz="2000" dirty="0">
                <a:latin typeface="Times New Roman" panose="02020603050405020304" pitchFamily="18" charset="0"/>
                <a:cs typeface="Times New Roman" panose="02020603050405020304" pitchFamily="18" charset="0"/>
              </a:rPr>
              <a:t>The model achieves high accuracy in tumor detection by learning complex patterns and features from medical imaging data.</a:t>
            </a:r>
          </a:p>
          <a:p>
            <a:r>
              <a:rPr lang="en-US" sz="2000" dirty="0">
                <a:latin typeface="Times New Roman" panose="02020603050405020304" pitchFamily="18" charset="0"/>
                <a:cs typeface="Times New Roman" panose="02020603050405020304" pitchFamily="18" charset="0"/>
              </a:rPr>
              <a:t>The system significantly reduces human error by minimizing manual analysis and providing consistent automated predictions.</a:t>
            </a:r>
          </a:p>
          <a:p>
            <a:r>
              <a:rPr lang="en-US" sz="2000" dirty="0">
                <a:latin typeface="Times New Roman" panose="02020603050405020304" pitchFamily="18" charset="0"/>
                <a:cs typeface="Times New Roman" panose="02020603050405020304" pitchFamily="18" charset="0"/>
              </a:rPr>
              <a:t>It serves as a valuable tool for medical professionals by assisting in faster, more accurate, and efficient diagnosis.</a:t>
            </a:r>
          </a:p>
          <a:p>
            <a:r>
              <a:rPr lang="en-US" sz="2000" dirty="0">
                <a:latin typeface="Times New Roman" panose="02020603050405020304" pitchFamily="18" charset="0"/>
                <a:cs typeface="Times New Roman" panose="02020603050405020304" pitchFamily="18" charset="0"/>
              </a:rPr>
              <a:t>The proposed model demonstrates strong generalization capability by performing consistently well on both training and unseen test data.</a:t>
            </a:r>
          </a:p>
          <a:p>
            <a:r>
              <a:rPr lang="en-US" sz="2000" dirty="0">
                <a:latin typeface="Times New Roman" panose="02020603050405020304" pitchFamily="18" charset="0"/>
                <a:cs typeface="Times New Roman" panose="02020603050405020304" pitchFamily="18" charset="0"/>
              </a:rPr>
              <a:t>The use of preprocessing techniques such as normalization and data augmentation plays a crucial role in improving model performance and stability.</a:t>
            </a:r>
          </a:p>
          <a:p>
            <a:r>
              <a:rPr lang="en-US" sz="2000" dirty="0">
                <a:latin typeface="Times New Roman" panose="02020603050405020304" pitchFamily="18" charset="0"/>
                <a:cs typeface="Times New Roman" panose="02020603050405020304" pitchFamily="18" charset="0"/>
              </a:rPr>
              <a:t>The system offers a scalable and adaptable solution that can be further enhanced and integrated into real-world medical applications</a:t>
            </a:r>
            <a:r>
              <a:rPr lang="en-US" sz="2000" dirty="0"/>
              <a:t>.</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980467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DEB630-EB82-01CA-3CF9-E03B40BF81B2}"/>
              </a:ext>
            </a:extLst>
          </p:cNvPr>
          <p:cNvSpPr>
            <a:spLocks noGrp="1"/>
          </p:cNvSpPr>
          <p:nvPr>
            <p:ph type="title"/>
          </p:nvPr>
        </p:nvSpPr>
        <p:spPr/>
        <p:txBody>
          <a:bodyPr/>
          <a:lstStyle/>
          <a:p>
            <a:pPr algn="ctr"/>
            <a:r>
              <a:rPr lang="en-US" sz="3200" dirty="0"/>
              <a:t>Future Work</a:t>
            </a:r>
          </a:p>
        </p:txBody>
      </p:sp>
      <p:sp>
        <p:nvSpPr>
          <p:cNvPr id="3" name="Subtitle 2">
            <a:extLst>
              <a:ext uri="{FF2B5EF4-FFF2-40B4-BE49-F238E27FC236}">
                <a16:creationId xmlns:a16="http://schemas.microsoft.com/office/drawing/2014/main" id="{051537BB-C50A-7C45-5C48-EEE1D09CD301}"/>
              </a:ext>
            </a:extLst>
          </p:cNvPr>
          <p:cNvSpPr>
            <a:spLocks noGrp="1"/>
          </p:cNvSpPr>
          <p:nvPr>
            <p:ph type="subTitle"/>
          </p:nvPr>
        </p:nvSpPr>
        <p:spPr>
          <a:xfrm>
            <a:off x="457200" y="989705"/>
            <a:ext cx="8229240" cy="5550944"/>
          </a:xfrm>
        </p:spPr>
        <p:txBody>
          <a:bodyPr/>
          <a:lstStyle/>
          <a:p>
            <a:pPr algn="l">
              <a:buFont typeface="Arial" panose="020B0604020202020204" pitchFamily="34" charset="0"/>
              <a:buChar char="•"/>
            </a:pPr>
            <a:r>
              <a:rPr lang="en-US" sz="2000" b="0" i="0" u="none" strike="noStrike" dirty="0">
                <a:solidFill>
                  <a:srgbClr val="000000"/>
                </a:solidFill>
                <a:effectLst/>
                <a:latin typeface="Times New Roman" panose="02020603050405020304" pitchFamily="18" charset="0"/>
                <a:cs typeface="Times New Roman" panose="02020603050405020304" pitchFamily="18" charset="0"/>
              </a:rPr>
              <a:t>Extend the system from binary classification to multi-class classification to identify different tumor types like glioma, meningioma, and pituitary tumors for better clinical usefulness.</a:t>
            </a:r>
          </a:p>
          <a:p>
            <a:pPr algn="l">
              <a:buFont typeface="Arial" panose="020B0604020202020204" pitchFamily="34" charset="0"/>
              <a:buChar char="•"/>
            </a:pPr>
            <a:r>
              <a:rPr lang="en-US" sz="2000" b="0" i="0" u="none" strike="noStrike" dirty="0">
                <a:solidFill>
                  <a:srgbClr val="000000"/>
                </a:solidFill>
                <a:effectLst/>
                <a:latin typeface="Times New Roman" panose="02020603050405020304" pitchFamily="18" charset="0"/>
                <a:cs typeface="Times New Roman" panose="02020603050405020304" pitchFamily="18" charset="0"/>
              </a:rPr>
              <a:t>Implement advanced deep learning models such as </a:t>
            </a:r>
            <a:r>
              <a:rPr lang="en-US" sz="2000" b="0" i="0" u="none" strike="noStrike" dirty="0" err="1">
                <a:solidFill>
                  <a:srgbClr val="000000"/>
                </a:solidFill>
                <a:effectLst/>
                <a:latin typeface="Times New Roman" panose="02020603050405020304" pitchFamily="18" charset="0"/>
                <a:cs typeface="Times New Roman" panose="02020603050405020304" pitchFamily="18" charset="0"/>
              </a:rPr>
              <a:t>ResNet</a:t>
            </a:r>
            <a:r>
              <a:rPr lang="en-US" sz="2000" b="0" i="0" u="none" strike="noStrike" dirty="0">
                <a:solidFill>
                  <a:srgbClr val="000000"/>
                </a:solidFill>
                <a:effectLst/>
                <a:latin typeface="Times New Roman" panose="02020603050405020304" pitchFamily="18" charset="0"/>
                <a:cs typeface="Times New Roman" panose="02020603050405020304" pitchFamily="18" charset="0"/>
              </a:rPr>
              <a:t> and VGG16 to enhance feature extraction and improve overall accuracy.</a:t>
            </a:r>
          </a:p>
          <a:p>
            <a:pPr algn="l">
              <a:buFont typeface="Arial" panose="020B0604020202020204" pitchFamily="34" charset="0"/>
              <a:buChar char="•"/>
            </a:pPr>
            <a:r>
              <a:rPr lang="en-US" sz="2000" b="0" i="0" u="none" strike="noStrike" dirty="0">
                <a:solidFill>
                  <a:srgbClr val="000000"/>
                </a:solidFill>
                <a:effectLst/>
                <a:latin typeface="Times New Roman" panose="02020603050405020304" pitchFamily="18" charset="0"/>
                <a:cs typeface="Times New Roman" panose="02020603050405020304" pitchFamily="18" charset="0"/>
              </a:rPr>
              <a:t>Increase the size and diversity of the dataset by including MRI images from multiple sources to improve generalization and reduce overfitting.</a:t>
            </a:r>
          </a:p>
          <a:p>
            <a:pPr algn="l">
              <a:buFont typeface="Arial" panose="020B0604020202020204" pitchFamily="34" charset="0"/>
              <a:buChar char="•"/>
            </a:pPr>
            <a:r>
              <a:rPr lang="en-US" sz="2000" b="0" i="0" u="none" strike="noStrike" dirty="0">
                <a:solidFill>
                  <a:srgbClr val="000000"/>
                </a:solidFill>
                <a:effectLst/>
                <a:latin typeface="Times New Roman" panose="02020603050405020304" pitchFamily="18" charset="0"/>
                <a:cs typeface="Times New Roman" panose="02020603050405020304" pitchFamily="18" charset="0"/>
              </a:rPr>
              <a:t>Optimize the model to make it more efficient by reducing computational cost while maintaining high performance and stability.</a:t>
            </a:r>
          </a:p>
          <a:p>
            <a:pPr algn="l">
              <a:buFont typeface="Arial" panose="020B0604020202020204" pitchFamily="34" charset="0"/>
              <a:buChar char="•"/>
            </a:pPr>
            <a:r>
              <a:rPr lang="en-US" sz="2000" b="0" i="0" u="none" strike="noStrike" dirty="0">
                <a:solidFill>
                  <a:srgbClr val="000000"/>
                </a:solidFill>
                <a:effectLst/>
                <a:latin typeface="Times New Roman" panose="02020603050405020304" pitchFamily="18" charset="0"/>
                <a:cs typeface="Times New Roman" panose="02020603050405020304" pitchFamily="18" charset="0"/>
              </a:rPr>
              <a:t>Develop a real-time application with a user-friendly interface that allows doctors to upload MRI scans and receive instant predictions.</a:t>
            </a:r>
          </a:p>
          <a:p>
            <a:pPr algn="l">
              <a:buFont typeface="Arial" panose="020B0604020202020204" pitchFamily="34" charset="0"/>
              <a:buChar char="•"/>
            </a:pPr>
            <a:r>
              <a:rPr lang="en-US" sz="2000" b="0" i="0" u="none" strike="noStrike" dirty="0">
                <a:solidFill>
                  <a:srgbClr val="000000"/>
                </a:solidFill>
                <a:effectLst/>
                <a:latin typeface="Times New Roman" panose="02020603050405020304" pitchFamily="18" charset="0"/>
                <a:cs typeface="Times New Roman" panose="02020603050405020304" pitchFamily="18" charset="0"/>
              </a:rPr>
              <a:t>Integrate the system into healthcare environments to support radiologists, reduce workload, and improve diagnostic efficiency.</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364513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297577" y="2821578"/>
            <a:ext cx="6705599" cy="1410788"/>
          </a:xfrm>
          <a:prstGeom prst="rect">
            <a:avLst/>
          </a:prstGeom>
          <a:noFill/>
          <a:ln w="9360">
            <a:noFill/>
          </a:ln>
        </p:spPr>
        <p:txBody>
          <a:bodyPr anchor="ctr">
            <a:noAutofit/>
          </a:bodyPr>
          <a:lstStyle/>
          <a:p>
            <a:pPr algn="ctr">
              <a:lnSpc>
                <a:spcPct val="100000"/>
              </a:lnSpc>
            </a:pPr>
            <a:r>
              <a:rPr lang="en" sz="5400" dirty="0">
                <a:latin typeface="Times New Roman" panose="02020603050405020304" pitchFamily="18" charset="0"/>
                <a:cs typeface="Times New Roman" panose="02020603050405020304" pitchFamily="18" charset="0"/>
              </a:rPr>
              <a:t>Thank You</a:t>
            </a:r>
            <a:endParaRPr lang="en-US" sz="54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10</a:t>
            </a:fld>
            <a:endParaRPr lang="en-GB" sz="1200" b="0" strike="noStrike" spc="-1">
              <a:latin typeface="Times New Roman"/>
            </a:endParaRPr>
          </a:p>
        </p:txBody>
      </p:sp>
    </p:spTree>
    <p:extLst>
      <p:ext uri="{BB962C8B-B14F-4D97-AF65-F5344CB8AC3E}">
        <p14:creationId xmlns:p14="http://schemas.microsoft.com/office/powerpoint/2010/main" val="28344798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96F1BF43DDE004485E7A868D137D60A" ma:contentTypeVersion="0" ma:contentTypeDescription="Create a new document." ma:contentTypeScope="" ma:versionID="47fff7f98a9c49c088ba096c14cf4458">
  <xsd:schema xmlns:xsd="http://www.w3.org/2001/XMLSchema" xmlns:xs="http://www.w3.org/2001/XMLSchema" xmlns:p="http://schemas.microsoft.com/office/2006/metadata/properties" targetNamespace="http://schemas.microsoft.com/office/2006/metadata/properties" ma:root="true" ma:fieldsID="c05e9f2c4932a6a674126b9dde7716ea">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37ED6F0-5E4C-4CD0-9B68-9C53F925A6F7}">
  <ds:schemaRefs>
    <ds:schemaRef ds:uri="http://schemas.microsoft.com/sharepoint/v3/contenttype/forms"/>
  </ds:schemaRefs>
</ds:datastoreItem>
</file>

<file path=customXml/itemProps2.xml><?xml version="1.0" encoding="utf-8"?>
<ds:datastoreItem xmlns:ds="http://schemas.openxmlformats.org/officeDocument/2006/customXml" ds:itemID="{4A62A602-78C1-468C-BB25-57CD481DB741}">
  <ds:schemaRefs>
    <ds:schemaRef ds:uri="http://purl.org/dc/terms/"/>
    <ds:schemaRef ds:uri="http://www.w3.org/XML/1998/namespace"/>
    <ds:schemaRef ds:uri="http://purl.org/dc/dcmitype/"/>
    <ds:schemaRef ds:uri="http://schemas.microsoft.com/office/2006/documentManagement/types"/>
    <ds:schemaRef ds:uri="http://schemas.microsoft.com/office/2006/metadata/properties"/>
    <ds:schemaRef ds:uri="http://purl.org/dc/elements/1.1/"/>
    <ds:schemaRef ds:uri="http://schemas.microsoft.com/office/infopath/2007/PartnerControls"/>
    <ds:schemaRef ds:uri="http://schemas.openxmlformats.org/package/2006/metadata/core-properties"/>
  </ds:schemaRefs>
</ds:datastoreItem>
</file>

<file path=customXml/itemProps3.xml><?xml version="1.0" encoding="utf-8"?>
<ds:datastoreItem xmlns:ds="http://schemas.openxmlformats.org/officeDocument/2006/customXml" ds:itemID="{491DF113-39A2-46D5-BFDA-E63300A9EC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
  <TotalTime>34745</TotalTime>
  <Words>687</Words>
  <Application>Microsoft Macintosh PowerPoint</Application>
  <PresentationFormat>On-screen Show (4:3)</PresentationFormat>
  <Paragraphs>72</Paragraphs>
  <Slides>10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-webkit-standard</vt:lpstr>
      <vt:lpstr>Arial</vt:lpstr>
      <vt:lpstr>Calibri</vt:lpstr>
      <vt:lpstr>Times New Roman</vt:lpstr>
      <vt:lpstr>Office Theme</vt:lpstr>
      <vt:lpstr>PowerPoint Presentation</vt:lpstr>
      <vt:lpstr>PowerPoint Presentation</vt:lpstr>
      <vt:lpstr>Problem Statement</vt:lpstr>
      <vt:lpstr>Objective</vt:lpstr>
      <vt:lpstr>Methodology</vt:lpstr>
      <vt:lpstr>Results</vt:lpstr>
      <vt:lpstr>Analysis</vt:lpstr>
      <vt:lpstr>Conclusion</vt:lpstr>
      <vt:lpstr>Future Work</vt:lpstr>
      <vt:lpstr>PowerPoint Presentation</vt:lpstr>
    </vt:vector>
  </TitlesOfParts>
  <Company>CCC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ABC</dc:creator>
  <cp:lastModifiedBy>Arsh Khaira</cp:lastModifiedBy>
  <cp:revision>2301</cp:revision>
  <dcterms:created xsi:type="dcterms:W3CDTF">2010-04-09T07:36:15Z</dcterms:created>
  <dcterms:modified xsi:type="dcterms:W3CDTF">2026-04-28T15:22:07Z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ies>
</file>